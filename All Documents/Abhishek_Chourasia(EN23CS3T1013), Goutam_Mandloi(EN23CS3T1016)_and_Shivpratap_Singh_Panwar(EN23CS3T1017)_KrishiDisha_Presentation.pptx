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9" r:id="rId3"/>
    <p:sldId id="260" r:id="rId4"/>
    <p:sldId id="278" r:id="rId5"/>
    <p:sldId id="262" r:id="rId6"/>
    <p:sldId id="266" r:id="rId7"/>
    <p:sldId id="273" r:id="rId8"/>
    <p:sldId id="283" r:id="rId9"/>
    <p:sldId id="285" r:id="rId10"/>
    <p:sldId id="287" r:id="rId11"/>
    <p:sldId id="288" r:id="rId12"/>
    <p:sldId id="286" r:id="rId13"/>
    <p:sldId id="290" r:id="rId14"/>
    <p:sldId id="289" r:id="rId15"/>
    <p:sldId id="281" r:id="rId16"/>
    <p:sldId id="279" r:id="rId17"/>
    <p:sldId id="280" r:id="rId18"/>
    <p:sldId id="291"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0" d="100"/>
          <a:sy n="80" d="100"/>
        </p:scale>
        <p:origin x="14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D4EEA5-8960-4530-A513-1B09D5A66962}" type="datetimeFigureOut">
              <a:rPr lang="en-IN" smtClean="0"/>
              <a:t>19-02-2025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1EB44B-38E3-4C67-AC05-1425E8AD5823}" type="slidenum">
              <a:rPr lang="en-IN" smtClean="0"/>
              <a:t>‹#›</a:t>
            </a:fld>
            <a:endParaRPr lang="en-IN"/>
          </a:p>
        </p:txBody>
      </p:sp>
    </p:spTree>
    <p:extLst>
      <p:ext uri="{BB962C8B-B14F-4D97-AF65-F5344CB8AC3E}">
        <p14:creationId xmlns:p14="http://schemas.microsoft.com/office/powerpoint/2010/main" val="3768230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1EB44B-38E3-4C67-AC05-1425E8AD5823}" type="slidenum">
              <a:rPr lang="en-IN" smtClean="0"/>
              <a:t>5</a:t>
            </a:fld>
            <a:endParaRPr lang="en-IN"/>
          </a:p>
        </p:txBody>
      </p:sp>
    </p:spTree>
    <p:extLst>
      <p:ext uri="{BB962C8B-B14F-4D97-AF65-F5344CB8AC3E}">
        <p14:creationId xmlns:p14="http://schemas.microsoft.com/office/powerpoint/2010/main" val="1186052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1EB44B-38E3-4C67-AC05-1425E8AD5823}" type="slidenum">
              <a:rPr lang="en-IN" smtClean="0"/>
              <a:t>6</a:t>
            </a:fld>
            <a:endParaRPr lang="en-IN"/>
          </a:p>
        </p:txBody>
      </p:sp>
    </p:spTree>
    <p:extLst>
      <p:ext uri="{BB962C8B-B14F-4D97-AF65-F5344CB8AC3E}">
        <p14:creationId xmlns:p14="http://schemas.microsoft.com/office/powerpoint/2010/main" val="2815521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A60E-F630-5D57-2C03-889E3437D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C126D-AFC1-CDC9-9EB7-1F23AE1C0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A7BA8-38B9-7C9D-1F08-E0A2EB88AB6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D2336C-8F6B-F21C-6D26-67B41A43F64E}"/>
              </a:ext>
            </a:extLst>
          </p:cNvPr>
          <p:cNvSpPr>
            <a:spLocks noGrp="1"/>
          </p:cNvSpPr>
          <p:nvPr>
            <p:ph type="sldNum" sz="quarter" idx="5"/>
          </p:nvPr>
        </p:nvSpPr>
        <p:spPr/>
        <p:txBody>
          <a:bodyPr/>
          <a:lstStyle/>
          <a:p>
            <a:fld id="{911EB44B-38E3-4C67-AC05-1425E8AD5823}" type="slidenum">
              <a:rPr lang="en-IN" smtClean="0"/>
              <a:t>7</a:t>
            </a:fld>
            <a:endParaRPr lang="en-IN"/>
          </a:p>
        </p:txBody>
      </p:sp>
    </p:spTree>
    <p:extLst>
      <p:ext uri="{BB962C8B-B14F-4D97-AF65-F5344CB8AC3E}">
        <p14:creationId xmlns:p14="http://schemas.microsoft.com/office/powerpoint/2010/main" val="179669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6B37C-41C7-6908-AC12-3BF9C7BE4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C7AAB-EA72-8323-EFB5-48FE69AEE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B4779-43CF-7007-A6B0-4FBEA20388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479E36-05E2-39D2-3604-250914CEA333}"/>
              </a:ext>
            </a:extLst>
          </p:cNvPr>
          <p:cNvSpPr>
            <a:spLocks noGrp="1"/>
          </p:cNvSpPr>
          <p:nvPr>
            <p:ph type="sldNum" sz="quarter" idx="5"/>
          </p:nvPr>
        </p:nvSpPr>
        <p:spPr/>
        <p:txBody>
          <a:bodyPr/>
          <a:lstStyle/>
          <a:p>
            <a:fld id="{911EB44B-38E3-4C67-AC05-1425E8AD5823}" type="slidenum">
              <a:rPr lang="en-IN" smtClean="0"/>
              <a:t>8</a:t>
            </a:fld>
            <a:endParaRPr lang="en-IN"/>
          </a:p>
        </p:txBody>
      </p:sp>
    </p:spTree>
    <p:extLst>
      <p:ext uri="{BB962C8B-B14F-4D97-AF65-F5344CB8AC3E}">
        <p14:creationId xmlns:p14="http://schemas.microsoft.com/office/powerpoint/2010/main" val="305821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83654-B762-A9E6-6D7A-193E5D215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FFFA3-E05D-EB58-5AC9-D2161DC0D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F57CF-987C-9011-C4AC-01D900A42DB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A62D21-918E-F112-1DCA-E3F9CC82D44F}"/>
              </a:ext>
            </a:extLst>
          </p:cNvPr>
          <p:cNvSpPr>
            <a:spLocks noGrp="1"/>
          </p:cNvSpPr>
          <p:nvPr>
            <p:ph type="sldNum" sz="quarter" idx="5"/>
          </p:nvPr>
        </p:nvSpPr>
        <p:spPr/>
        <p:txBody>
          <a:bodyPr/>
          <a:lstStyle/>
          <a:p>
            <a:fld id="{911EB44B-38E3-4C67-AC05-1425E8AD5823}" type="slidenum">
              <a:rPr lang="en-IN" smtClean="0"/>
              <a:t>9</a:t>
            </a:fld>
            <a:endParaRPr lang="en-IN"/>
          </a:p>
        </p:txBody>
      </p:sp>
    </p:spTree>
    <p:extLst>
      <p:ext uri="{BB962C8B-B14F-4D97-AF65-F5344CB8AC3E}">
        <p14:creationId xmlns:p14="http://schemas.microsoft.com/office/powerpoint/2010/main" val="3356791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DFE54-A903-A485-49B1-65D7927C3D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9717AD-3A24-4480-379B-D8B2F2C4F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BAE34F-00C2-6EA2-8E4E-966A0A5FF4BB}"/>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092F121E-5910-ABDE-96A4-426382DDE6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458D26-9FD0-AF37-5320-999309FDEAA2}"/>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4030592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4085-EB7E-C9BF-2B43-E25CF134C5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B41F27-EDB3-02A8-CF06-8B13A1B87E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277011-49EE-79FB-307F-906714A4652C}"/>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1CB556CD-2674-0645-A5F1-1F03817237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B4EB0E-9B33-6F59-6885-F4D1B2CA85BE}"/>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47336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D44CF-979B-40CF-B1BC-5EDD02C85E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35ED9B-E057-1427-57A9-8E4098B0C9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5B23E0-5EC3-4622-6179-3FDC641523A3}"/>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EE4C65E9-509A-E83D-5B5C-ABABAA55F3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F95E5-0F3D-4D98-8737-7B1353664801}"/>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777829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4C845-3E1C-953F-8C26-2F040E192B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95B703-48F7-C503-1429-C5D76BF11F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4D0322-806B-5C0C-BF52-4F20500791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620229-E7D4-CDDF-A270-7BDF583D5A3F}"/>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6" name="Footer Placeholder 5">
            <a:extLst>
              <a:ext uri="{FF2B5EF4-FFF2-40B4-BE49-F238E27FC236}">
                <a16:creationId xmlns:a16="http://schemas.microsoft.com/office/drawing/2014/main" id="{12FB37A5-64BD-4D2B-9BBF-BFFBB886FD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1FC39B-6BAD-823D-4AEA-015B7A310A56}"/>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2512395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DDA66-A456-E080-8E5F-0F7B315392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F39B37-CA38-3C0C-11CE-26426D3188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BAFF49-F2FD-2EFB-24C3-F65E2A8C5C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C959B8-F029-6568-9B06-798F98CD6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1FD14-6DCA-46B8-A9D2-55A193245B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9A5E6C-143E-08BF-3732-CA38D093BB42}"/>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8" name="Footer Placeholder 7">
            <a:extLst>
              <a:ext uri="{FF2B5EF4-FFF2-40B4-BE49-F238E27FC236}">
                <a16:creationId xmlns:a16="http://schemas.microsoft.com/office/drawing/2014/main" id="{6B32A629-AEA4-CDFB-5FAD-EFF1840E4C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1EB86E-54BA-587D-3580-6902D19A0DBB}"/>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2540564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929A6-3894-E776-7F28-4338B4450A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A5F319-93D1-ABBE-B3D0-6DD50030D248}"/>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4" name="Footer Placeholder 3">
            <a:extLst>
              <a:ext uri="{FF2B5EF4-FFF2-40B4-BE49-F238E27FC236}">
                <a16:creationId xmlns:a16="http://schemas.microsoft.com/office/drawing/2014/main" id="{6CB12BF1-30E3-1305-8F65-D9CD169491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B91007-CA2E-ACE6-BAD2-BEC9FABC916C}"/>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953418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BF19D9-0748-3EF9-386B-782F29924DDD}"/>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3" name="Footer Placeholder 2">
            <a:extLst>
              <a:ext uri="{FF2B5EF4-FFF2-40B4-BE49-F238E27FC236}">
                <a16:creationId xmlns:a16="http://schemas.microsoft.com/office/drawing/2014/main" id="{8F4BB716-15DE-513A-04E0-0A8A1042EF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CB14E6-2E1F-9536-7FF8-CA1C69B4AF4B}"/>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226710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78BA8-D531-E12A-C902-328E25FC32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00C382-1DD2-0005-70EB-DA3708B261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59EBDD-5388-3E98-247B-012ACC536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7E633-4F3B-C56A-B7F7-EA69EA8009A9}"/>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6" name="Footer Placeholder 5">
            <a:extLst>
              <a:ext uri="{FF2B5EF4-FFF2-40B4-BE49-F238E27FC236}">
                <a16:creationId xmlns:a16="http://schemas.microsoft.com/office/drawing/2014/main" id="{6855E111-4400-0D2B-6928-51C360E127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6268FD-E7DC-6E20-44F0-7A9DC8B98551}"/>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2753714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1387-F66F-5BC3-3AB7-AF35D19F9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54E8B4-C312-B708-D499-43C6A78D8F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4A26B5-AFA8-F735-CC41-B309686C7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63633B-3202-D19F-FF3C-0A8ED1C8D397}"/>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6" name="Footer Placeholder 5">
            <a:extLst>
              <a:ext uri="{FF2B5EF4-FFF2-40B4-BE49-F238E27FC236}">
                <a16:creationId xmlns:a16="http://schemas.microsoft.com/office/drawing/2014/main" id="{16183ACC-3030-98FD-0ECD-B119079F19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A31E99-FFF8-CA50-26FE-5AC91090F078}"/>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3719032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274D-97C7-7CC2-50E6-2FEAE1498C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6F9032-AAA5-3981-F1B0-8006E05DF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EB63C-147E-6E7E-BC64-24E0F85C8D7A}"/>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797A5CBE-6F79-52B8-672F-B09101AD5F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4B665B-C935-5251-A550-B8D1F072765E}"/>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1325928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0FB04A-D094-29CE-DDA3-0AA4638367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596601-D38C-8A6B-CE48-185F3ED27F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974407-235C-DDD9-43B5-FC200B495DE8}"/>
              </a:ext>
            </a:extLst>
          </p:cNvPr>
          <p:cNvSpPr>
            <a:spLocks noGrp="1"/>
          </p:cNvSpPr>
          <p:nvPr>
            <p:ph type="dt" sz="half" idx="10"/>
          </p:nvPr>
        </p:nvSpPr>
        <p:spPr/>
        <p:txBody>
          <a:body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7E0E7895-9EDF-C830-CB89-1A3239D389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70364-E85C-FFB6-BF3E-2CC3354BDE9E}"/>
              </a:ext>
            </a:extLst>
          </p:cNvPr>
          <p:cNvSpPr>
            <a:spLocks noGrp="1"/>
          </p:cNvSpPr>
          <p:nvPr>
            <p:ph type="sldNum" sz="quarter" idx="12"/>
          </p:nvPr>
        </p:nvSpPr>
        <p:spPr/>
        <p:txBody>
          <a:bodyPr/>
          <a:lstStyle/>
          <a:p>
            <a:fld id="{DDC83D6C-BE19-4E9C-96C9-B7E18A0E8AF7}" type="slidenum">
              <a:rPr lang="en-IN" smtClean="0"/>
              <a:t>‹#›</a:t>
            </a:fld>
            <a:endParaRPr lang="en-IN"/>
          </a:p>
        </p:txBody>
      </p:sp>
    </p:spTree>
    <p:extLst>
      <p:ext uri="{BB962C8B-B14F-4D97-AF65-F5344CB8AC3E}">
        <p14:creationId xmlns:p14="http://schemas.microsoft.com/office/powerpoint/2010/main" val="3095829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A402A-F18C-7D22-2DCA-1C7B3875B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9A84BA-F314-BF21-9688-5416544676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F7C9FF-F8F4-3B99-E9CE-8B6FDF11C4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285FBF-D536-482E-8470-07BD432CB5D8}" type="datetimeFigureOut">
              <a:rPr lang="en-IN" smtClean="0"/>
              <a:t>19-02-2025</a:t>
            </a:fld>
            <a:endParaRPr lang="en-IN"/>
          </a:p>
        </p:txBody>
      </p:sp>
      <p:sp>
        <p:nvSpPr>
          <p:cNvPr id="5" name="Footer Placeholder 4">
            <a:extLst>
              <a:ext uri="{FF2B5EF4-FFF2-40B4-BE49-F238E27FC236}">
                <a16:creationId xmlns:a16="http://schemas.microsoft.com/office/drawing/2014/main" id="{D091F764-6667-19BF-D482-0415D14F77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865F4E-42B0-FC39-5B7E-57DB0F0BE4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C83D6C-BE19-4E9C-96C9-B7E18A0E8AF7}" type="slidenum">
              <a:rPr lang="en-IN" smtClean="0"/>
              <a:t>‹#›</a:t>
            </a:fld>
            <a:endParaRPr lang="en-IN"/>
          </a:p>
        </p:txBody>
      </p:sp>
    </p:spTree>
    <p:extLst>
      <p:ext uri="{BB962C8B-B14F-4D97-AF65-F5344CB8AC3E}">
        <p14:creationId xmlns:p14="http://schemas.microsoft.com/office/powerpoint/2010/main" val="291306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slide" Target="slide14.xml"/><Relationship Id="rId3" Type="http://schemas.openxmlformats.org/officeDocument/2006/relationships/image" Target="../media/image19.png"/><Relationship Id="rId7" Type="http://schemas.openxmlformats.org/officeDocument/2006/relationships/slide" Target="slide10.xml"/><Relationship Id="rId12" Type="http://schemas.openxmlformats.org/officeDocument/2006/relationships/image" Target="../media/image24.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slide" Target="slide13.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3.png"/><Relationship Id="rId5" Type="http://schemas.openxmlformats.org/officeDocument/2006/relationships/image" Target="../media/image19.png"/><Relationship Id="rId15" Type="http://schemas.openxmlformats.org/officeDocument/2006/relationships/image" Target="../media/image25.png"/><Relationship Id="rId10" Type="http://schemas.openxmlformats.org/officeDocument/2006/relationships/slide" Target="slide11.xml"/><Relationship Id="rId4" Type="http://schemas.openxmlformats.org/officeDocument/2006/relationships/slide" Target="slide12.xml"/><Relationship Id="rId9" Type="http://schemas.openxmlformats.org/officeDocument/2006/relationships/image" Target="../media/image23.png"/><Relationship Id="rId1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2.jpg"/></Relationships>
</file>

<file path=ppt/slides/_rels/slide1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descr="preencoded.png"/>
          <p:cNvPicPr>
            <a:picLocks noChangeAspect="1"/>
          </p:cNvPicPr>
          <p:nvPr/>
        </p:nvPicPr>
        <p:blipFill>
          <a:blip r:embed="rId2"/>
          <a:stretch>
            <a:fillRect/>
          </a:stretch>
        </p:blipFill>
        <p:spPr>
          <a:xfrm>
            <a:off x="15573" y="25762"/>
            <a:ext cx="1569341" cy="1569341"/>
          </a:xfrm>
          <a:prstGeom prst="rect">
            <a:avLst/>
          </a:prstGeom>
        </p:spPr>
      </p:pic>
      <p:pic>
        <p:nvPicPr>
          <p:cNvPr id="60" name="Picture 59" descr="A picture containing plant, leaf, tree&#10;&#10;Description automatically generated">
            <a:extLst>
              <a:ext uri="{FF2B5EF4-FFF2-40B4-BE49-F238E27FC236}">
                <a16:creationId xmlns:a16="http://schemas.microsoft.com/office/drawing/2014/main" id="{171DE5BC-48F9-0ED2-351D-93ACFD9076B1}"/>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artisticPlasticWrap/>
                    </a14:imgEffect>
                  </a14:imgLayer>
                </a14:imgProps>
              </a:ext>
              <a:ext uri="{28A0092B-C50C-407E-A947-70E740481C1C}">
                <a14:useLocalDpi xmlns:a14="http://schemas.microsoft.com/office/drawing/2010/main" val="0"/>
              </a:ext>
            </a:extLst>
          </a:blip>
          <a:stretch>
            <a:fillRect/>
          </a:stretch>
        </p:blipFill>
        <p:spPr>
          <a:xfrm rot="3133390">
            <a:off x="-1677547" y="726364"/>
            <a:ext cx="4751734" cy="5275677"/>
          </a:xfrm>
          <a:prstGeom prst="rect">
            <a:avLst/>
          </a:prstGeom>
        </p:spPr>
      </p:pic>
      <p:sp>
        <p:nvSpPr>
          <p:cNvPr id="6" name="Rectangle 5">
            <a:extLst>
              <a:ext uri="{FF2B5EF4-FFF2-40B4-BE49-F238E27FC236}">
                <a16:creationId xmlns:a16="http://schemas.microsoft.com/office/drawing/2014/main" id="{26D23657-1A1A-9237-2102-C7DA986B24A2}"/>
              </a:ext>
            </a:extLst>
          </p:cNvPr>
          <p:cNvSpPr/>
          <p:nvPr/>
        </p:nvSpPr>
        <p:spPr>
          <a:xfrm>
            <a:off x="9143999" y="0"/>
            <a:ext cx="3048001" cy="5604719"/>
          </a:xfrm>
          <a:prstGeom prst="rect">
            <a:avLst/>
          </a:prstGeom>
          <a:solidFill>
            <a:schemeClr val="accent6">
              <a:lumMod val="50000"/>
            </a:schemeClr>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A509946-FDD7-8182-BC06-ADFAD9EC59AE}"/>
              </a:ext>
            </a:extLst>
          </p:cNvPr>
          <p:cNvSpPr txBox="1"/>
          <p:nvPr/>
        </p:nvSpPr>
        <p:spPr>
          <a:xfrm>
            <a:off x="718669" y="2651917"/>
            <a:ext cx="6830880" cy="1815882"/>
          </a:xfrm>
          <a:prstGeom prst="rect">
            <a:avLst/>
          </a:prstGeom>
          <a:noFill/>
        </p:spPr>
        <p:txBody>
          <a:bodyPr wrap="square">
            <a:spAutoFit/>
          </a:bodyPr>
          <a:lstStyle/>
          <a:p>
            <a:pPr algn="ctr"/>
            <a:r>
              <a:rPr lang="en-US" sz="2800" b="1" i="0" dirty="0">
                <a:solidFill>
                  <a:schemeClr val="tx1">
                    <a:lumMod val="95000"/>
                    <a:lumOff val="5000"/>
                  </a:schemeClr>
                </a:solidFill>
                <a:effectLst/>
                <a:latin typeface="Times New Roman" panose="02020603050405020304" pitchFamily="18" charset="0"/>
                <a:cs typeface="Times New Roman" panose="02020603050405020304" pitchFamily="18" charset="0"/>
              </a:rPr>
              <a:t>KRISHIDISHA: REVOLUTIONIZING AGRICULTURE WITH INTELLIGENT RECOMMENDATIONS, DISEASE DETECTION, AND YIELD PREDICTION</a:t>
            </a:r>
          </a:p>
        </p:txBody>
      </p:sp>
      <p:sp>
        <p:nvSpPr>
          <p:cNvPr id="11" name="Rectangle 10">
            <a:extLst>
              <a:ext uri="{FF2B5EF4-FFF2-40B4-BE49-F238E27FC236}">
                <a16:creationId xmlns:a16="http://schemas.microsoft.com/office/drawing/2014/main" id="{9FE7E9CE-F83E-0568-DF8A-CE3CEF002347}"/>
              </a:ext>
            </a:extLst>
          </p:cNvPr>
          <p:cNvSpPr/>
          <p:nvPr/>
        </p:nvSpPr>
        <p:spPr>
          <a:xfrm>
            <a:off x="1" y="5604719"/>
            <a:ext cx="6253316" cy="12532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50" name="Google Shape;50;p1"/>
          <p:cNvSpPr/>
          <p:nvPr/>
        </p:nvSpPr>
        <p:spPr>
          <a:xfrm>
            <a:off x="9144000" y="272154"/>
            <a:ext cx="3048000" cy="886909"/>
          </a:xfrm>
          <a:prstGeom prst="rect">
            <a:avLst/>
          </a:prstGeom>
          <a:solidFill>
            <a:schemeClr val="accent6">
              <a:lumMod val="50000"/>
            </a:schemeClr>
          </a:solidFill>
          <a:ln>
            <a:noFill/>
          </a:ln>
        </p:spPr>
        <p:txBody>
          <a:bodyPr spcFirstLastPara="1" wrap="square" lIns="0" tIns="0" rIns="0" bIns="0" anchor="t" anchorCtr="0">
            <a:noAutofit/>
          </a:bodyPr>
          <a:lstStyle/>
          <a:p>
            <a:pPr algn="ctr">
              <a:lnSpc>
                <a:spcPct val="123863"/>
              </a:lnSpc>
              <a:buClr>
                <a:srgbClr val="5CC97B"/>
              </a:buClr>
              <a:buSzPts val="4400"/>
            </a:pPr>
            <a:r>
              <a:rPr lang="en-US" sz="3200" b="1"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Project Work-2</a:t>
            </a:r>
            <a:endParaRPr sz="3200"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endParaRPr>
          </a:p>
        </p:txBody>
      </p:sp>
      <p:sp>
        <p:nvSpPr>
          <p:cNvPr id="51" name="Google Shape;51;p1"/>
          <p:cNvSpPr/>
          <p:nvPr/>
        </p:nvSpPr>
        <p:spPr>
          <a:xfrm>
            <a:off x="9143999" y="848236"/>
            <a:ext cx="3027143" cy="310827"/>
          </a:xfrm>
          <a:prstGeom prst="rect">
            <a:avLst/>
          </a:prstGeom>
          <a:noFill/>
          <a:ln>
            <a:noFill/>
          </a:ln>
        </p:spPr>
        <p:txBody>
          <a:bodyPr spcFirstLastPara="1" wrap="square" lIns="0" tIns="0" rIns="0" bIns="0" anchor="t" anchorCtr="0">
            <a:noAutofit/>
          </a:bodyPr>
          <a:lstStyle/>
          <a:p>
            <a:pPr algn="ctr">
              <a:lnSpc>
                <a:spcPct val="83928"/>
              </a:lnSpc>
              <a:buClr>
                <a:srgbClr val="000000"/>
              </a:buClr>
              <a:buSzPts val="2800"/>
            </a:pPr>
            <a:r>
              <a:rPr lang="en-US"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Course Code: CS3PC02</a:t>
            </a:r>
            <a:endParaRPr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Rectangle 6">
            <a:extLst>
              <a:ext uri="{FF2B5EF4-FFF2-40B4-BE49-F238E27FC236}">
                <a16:creationId xmlns:a16="http://schemas.microsoft.com/office/drawing/2014/main" id="{26D23657-1A1A-9237-2102-C7DA986B24A2}"/>
              </a:ext>
            </a:extLst>
          </p:cNvPr>
          <p:cNvSpPr/>
          <p:nvPr/>
        </p:nvSpPr>
        <p:spPr>
          <a:xfrm>
            <a:off x="6253317" y="5608001"/>
            <a:ext cx="5938683" cy="1237874"/>
          </a:xfrm>
          <a:prstGeom prst="rect">
            <a:avLst/>
          </a:prstGeom>
          <a:solidFill>
            <a:schemeClr val="accent6">
              <a:lumMod val="50000"/>
            </a:schemeClr>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438A8A4-4183-5E8D-6D09-A61BC3447A2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549548" y="1265336"/>
            <a:ext cx="4642452" cy="4351439"/>
          </a:xfrm>
          <a:prstGeom prst="rect">
            <a:avLst/>
          </a:prstGeom>
        </p:spPr>
      </p:pic>
      <p:grpSp>
        <p:nvGrpSpPr>
          <p:cNvPr id="14" name="Group 13">
            <a:extLst>
              <a:ext uri="{FF2B5EF4-FFF2-40B4-BE49-F238E27FC236}">
                <a16:creationId xmlns:a16="http://schemas.microsoft.com/office/drawing/2014/main" id="{EB743662-724F-6B51-159D-1DF2ACCC2E28}"/>
              </a:ext>
            </a:extLst>
          </p:cNvPr>
          <p:cNvGrpSpPr/>
          <p:nvPr/>
        </p:nvGrpSpPr>
        <p:grpSpPr>
          <a:xfrm>
            <a:off x="11471863" y="1383184"/>
            <a:ext cx="624115" cy="624115"/>
            <a:chOff x="11263614" y="1477219"/>
            <a:chExt cx="624115" cy="624115"/>
          </a:xfrm>
        </p:grpSpPr>
        <p:sp>
          <p:nvSpPr>
            <p:cNvPr id="23" name="Oval 22">
              <a:extLst>
                <a:ext uri="{FF2B5EF4-FFF2-40B4-BE49-F238E27FC236}">
                  <a16:creationId xmlns:a16="http://schemas.microsoft.com/office/drawing/2014/main" id="{E16463DD-469F-B1BE-5D90-8E8636642940}"/>
                </a:ext>
              </a:extLst>
            </p:cNvPr>
            <p:cNvSpPr/>
            <p:nvPr/>
          </p:nvSpPr>
          <p:spPr>
            <a:xfrm>
              <a:off x="11263614" y="1477219"/>
              <a:ext cx="624115" cy="624115"/>
            </a:xfrm>
            <a:prstGeom prst="ellipse">
              <a:avLst/>
            </a:prstGeom>
            <a:solidFill>
              <a:schemeClr val="bg1"/>
            </a:solidFill>
            <a:ln>
              <a:solidFill>
                <a:schemeClr val="accent6">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2FF22B27-0DB7-D8AD-5B72-2F8A1EC342C2}"/>
                </a:ext>
              </a:extLst>
            </p:cNvPr>
            <p:cNvGrpSpPr/>
            <p:nvPr/>
          </p:nvGrpSpPr>
          <p:grpSpPr>
            <a:xfrm>
              <a:off x="11456663" y="1689138"/>
              <a:ext cx="238017" cy="200277"/>
              <a:chOff x="11494387" y="1588999"/>
              <a:chExt cx="162568" cy="200277"/>
            </a:xfrm>
          </p:grpSpPr>
          <p:sp>
            <p:nvSpPr>
              <p:cNvPr id="30" name="Rectangle 29">
                <a:extLst>
                  <a:ext uri="{FF2B5EF4-FFF2-40B4-BE49-F238E27FC236}">
                    <a16:creationId xmlns:a16="http://schemas.microsoft.com/office/drawing/2014/main" id="{5AD8007D-3767-718D-C808-E0670F1F551B}"/>
                  </a:ext>
                </a:extLst>
              </p:cNvPr>
              <p:cNvSpPr/>
              <p:nvPr/>
            </p:nvSpPr>
            <p:spPr>
              <a:xfrm>
                <a:off x="11494387" y="1588999"/>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B463D8EB-1063-D6D8-813B-60599EF638F6}"/>
                  </a:ext>
                </a:extLst>
              </p:cNvPr>
              <p:cNvSpPr/>
              <p:nvPr/>
            </p:nvSpPr>
            <p:spPr>
              <a:xfrm>
                <a:off x="11494387" y="1662818"/>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DCE3AD77-AE0B-57DB-2F2A-CA005B1ED517}"/>
                  </a:ext>
                </a:extLst>
              </p:cNvPr>
              <p:cNvSpPr/>
              <p:nvPr/>
            </p:nvSpPr>
            <p:spPr>
              <a:xfrm>
                <a:off x="11494387" y="1743557"/>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pic>
        <p:nvPicPr>
          <p:cNvPr id="33" name="Picture 32">
            <a:extLst>
              <a:ext uri="{FF2B5EF4-FFF2-40B4-BE49-F238E27FC236}">
                <a16:creationId xmlns:a16="http://schemas.microsoft.com/office/drawing/2014/main" id="{C222776C-526F-5445-3785-CB126BA000F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94532" y="552848"/>
            <a:ext cx="1771647" cy="1591714"/>
          </a:xfrm>
          <a:prstGeom prst="rect">
            <a:avLst/>
          </a:prstGeom>
        </p:spPr>
      </p:pic>
      <p:sp>
        <p:nvSpPr>
          <p:cNvPr id="34" name="Google Shape;56;p1"/>
          <p:cNvSpPr/>
          <p:nvPr/>
        </p:nvSpPr>
        <p:spPr>
          <a:xfrm>
            <a:off x="151310" y="5679800"/>
            <a:ext cx="1805310" cy="335149"/>
          </a:xfrm>
          <a:prstGeom prst="rect">
            <a:avLst/>
          </a:prstGeom>
          <a:noFill/>
          <a:ln>
            <a:noFill/>
          </a:ln>
        </p:spPr>
        <p:txBody>
          <a:bodyPr spcFirstLastPara="1" wrap="square" lIns="0" tIns="0" rIns="0" bIns="0" anchor="t" anchorCtr="0">
            <a:noAutofit/>
          </a:bodyPr>
          <a:lstStyle/>
          <a:p>
            <a:pPr>
              <a:lnSpc>
                <a:spcPct val="97916"/>
              </a:lnSpc>
              <a:buClr>
                <a:srgbClr val="5CC97B"/>
              </a:buClr>
              <a:buSzPts val="2400"/>
            </a:pPr>
            <a:r>
              <a:rPr lang="en-US" b="1" dirty="0">
                <a:solidFill>
                  <a:srgbClr val="5CC97B"/>
                </a:solidFill>
                <a:latin typeface="Times New Roman" panose="02020603050405020304" pitchFamily="18" charset="0"/>
                <a:ea typeface="Times New Roman"/>
                <a:cs typeface="Times New Roman" panose="02020603050405020304" pitchFamily="18" charset="0"/>
                <a:sym typeface="Times New Roman"/>
              </a:rPr>
              <a:t>Presented by :-</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6" name="TextBox 35">
            <a:extLst>
              <a:ext uri="{FF2B5EF4-FFF2-40B4-BE49-F238E27FC236}">
                <a16:creationId xmlns:a16="http://schemas.microsoft.com/office/drawing/2014/main" id="{500D9C3C-B9AA-40C4-3C7F-956F60B74BC3}"/>
              </a:ext>
            </a:extLst>
          </p:cNvPr>
          <p:cNvSpPr txBox="1"/>
          <p:nvPr/>
        </p:nvSpPr>
        <p:spPr>
          <a:xfrm>
            <a:off x="6253317" y="5645617"/>
            <a:ext cx="1730693" cy="338554"/>
          </a:xfrm>
          <a:prstGeom prst="rect">
            <a:avLst/>
          </a:prstGeom>
          <a:noFill/>
        </p:spPr>
        <p:txBody>
          <a:bodyPr wrap="square">
            <a:spAutoFit/>
          </a:bodyPr>
          <a:lstStyle/>
          <a:p>
            <a:r>
              <a:rPr lang="en-US" sz="1600" b="1"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Guide Name :- </a:t>
            </a:r>
            <a:endParaRPr lang="en-IN" sz="1600" dirty="0">
              <a:solidFill>
                <a:schemeClr val="accent6">
                  <a:lumMod val="60000"/>
                  <a:lumOff val="40000"/>
                </a:schemeClr>
              </a:solidFill>
              <a:latin typeface="Times New Roman" panose="02020603050405020304" pitchFamily="18" charset="0"/>
              <a:cs typeface="Times New Roman" panose="02020603050405020304" pitchFamily="18" charset="0"/>
            </a:endParaRPr>
          </a:p>
        </p:txBody>
      </p:sp>
      <p:grpSp>
        <p:nvGrpSpPr>
          <p:cNvPr id="37" name="Group 36">
            <a:extLst>
              <a:ext uri="{FF2B5EF4-FFF2-40B4-BE49-F238E27FC236}">
                <a16:creationId xmlns:a16="http://schemas.microsoft.com/office/drawing/2014/main" id="{9F3E3435-C31C-B2C2-5815-C23ED2D228FF}"/>
              </a:ext>
            </a:extLst>
          </p:cNvPr>
          <p:cNvGrpSpPr/>
          <p:nvPr/>
        </p:nvGrpSpPr>
        <p:grpSpPr>
          <a:xfrm>
            <a:off x="7709340" y="5353680"/>
            <a:ext cx="605082" cy="166266"/>
            <a:chOff x="7819360" y="5848684"/>
            <a:chExt cx="605082" cy="166266"/>
          </a:xfrm>
        </p:grpSpPr>
        <p:sp>
          <p:nvSpPr>
            <p:cNvPr id="38" name="Oval 37">
              <a:extLst>
                <a:ext uri="{FF2B5EF4-FFF2-40B4-BE49-F238E27FC236}">
                  <a16:creationId xmlns:a16="http://schemas.microsoft.com/office/drawing/2014/main" id="{61844968-5D6F-8598-D790-7EAB6139C0C4}"/>
                </a:ext>
              </a:extLst>
            </p:cNvPr>
            <p:cNvSpPr/>
            <p:nvPr/>
          </p:nvSpPr>
          <p:spPr>
            <a:xfrm>
              <a:off x="7819360"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B92DA78B-C285-7381-C1AB-B5FB85D64001}"/>
                </a:ext>
              </a:extLst>
            </p:cNvPr>
            <p:cNvSpPr/>
            <p:nvPr/>
          </p:nvSpPr>
          <p:spPr>
            <a:xfrm>
              <a:off x="8038768"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40" name="Oval 39">
              <a:extLst>
                <a:ext uri="{FF2B5EF4-FFF2-40B4-BE49-F238E27FC236}">
                  <a16:creationId xmlns:a16="http://schemas.microsoft.com/office/drawing/2014/main" id="{1AB44E59-031B-C23E-934D-761BEFDCE54A}"/>
                </a:ext>
              </a:extLst>
            </p:cNvPr>
            <p:cNvSpPr/>
            <p:nvPr/>
          </p:nvSpPr>
          <p:spPr>
            <a:xfrm>
              <a:off x="8258176"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sp>
        <p:nvSpPr>
          <p:cNvPr id="42" name="TextBox 41">
            <a:extLst>
              <a:ext uri="{FF2B5EF4-FFF2-40B4-BE49-F238E27FC236}">
                <a16:creationId xmlns:a16="http://schemas.microsoft.com/office/drawing/2014/main" id="{41F79CDB-3B43-103B-0688-A0398AB2C397}"/>
              </a:ext>
            </a:extLst>
          </p:cNvPr>
          <p:cNvSpPr txBox="1"/>
          <p:nvPr/>
        </p:nvSpPr>
        <p:spPr>
          <a:xfrm>
            <a:off x="1828801" y="5679800"/>
            <a:ext cx="4011560" cy="338554"/>
          </a:xfrm>
          <a:prstGeom prst="rect">
            <a:avLst/>
          </a:prstGeom>
          <a:noFill/>
        </p:spPr>
        <p:txBody>
          <a:bodyPr wrap="square">
            <a:spAutoFit/>
          </a:bodyPr>
          <a:lstStyle/>
          <a:p>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Abhishek Chourasia (EN23CS3T1013</a:t>
            </a:r>
            <a:r>
              <a:rPr lang="en-US" sz="1600" dirty="0">
                <a:solidFill>
                  <a:schemeClr val="accent3">
                    <a:lumMod val="50000"/>
                  </a:schemeClr>
                </a:solidFill>
                <a:latin typeface="Times New Roman" panose="02020603050405020304" pitchFamily="18" charset="0"/>
                <a:ea typeface="Times New Roman"/>
                <a:cs typeface="Times New Roman" panose="02020603050405020304" pitchFamily="18" charset="0"/>
              </a:rPr>
              <a:t>)</a:t>
            </a:r>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 </a:t>
            </a:r>
            <a:endParaRPr lang="en-IN" sz="1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64E47D0-30DB-67E9-D904-CA9376C06B69}"/>
              </a:ext>
            </a:extLst>
          </p:cNvPr>
          <p:cNvSpPr txBox="1"/>
          <p:nvPr/>
        </p:nvSpPr>
        <p:spPr>
          <a:xfrm>
            <a:off x="1828801" y="6001553"/>
            <a:ext cx="3718002" cy="338554"/>
          </a:xfrm>
          <a:prstGeom prst="rect">
            <a:avLst/>
          </a:prstGeom>
          <a:noFill/>
        </p:spPr>
        <p:txBody>
          <a:bodyPr wrap="square">
            <a:spAutoFit/>
          </a:bodyPr>
          <a:lstStyle/>
          <a:p>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Goutam Mandloi (EN23CS3T1016)</a:t>
            </a:r>
            <a:endParaRPr lang="en-IN" sz="1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BD3E8A7-9343-CDE1-43A3-DF4D59984685}"/>
              </a:ext>
            </a:extLst>
          </p:cNvPr>
          <p:cNvSpPr txBox="1"/>
          <p:nvPr/>
        </p:nvSpPr>
        <p:spPr>
          <a:xfrm>
            <a:off x="1828801" y="6323305"/>
            <a:ext cx="4607606" cy="332527"/>
          </a:xfrm>
          <a:prstGeom prst="rect">
            <a:avLst/>
          </a:prstGeom>
          <a:noFill/>
        </p:spPr>
        <p:txBody>
          <a:bodyPr wrap="square">
            <a:spAutoFit/>
          </a:bodyPr>
          <a:lstStyle/>
          <a:p>
            <a:pPr>
              <a:lnSpc>
                <a:spcPct val="104166"/>
              </a:lnSpc>
              <a:spcBef>
                <a:spcPts val="500"/>
              </a:spcBef>
              <a:buClr>
                <a:srgbClr val="272525"/>
              </a:buClr>
              <a:buSzPts val="2400"/>
            </a:pPr>
            <a:r>
              <a:rPr lang="en-US" sz="1600" b="1" dirty="0" err="1">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Shivpratap</a:t>
            </a:r>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 Singh Panwar (EN23CS3T1017)</a:t>
            </a:r>
            <a:endParaRPr lang="en-US" sz="12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43DB0C93-969F-0123-F251-C8C8437D096F}"/>
              </a:ext>
            </a:extLst>
          </p:cNvPr>
          <p:cNvSpPr txBox="1"/>
          <p:nvPr/>
        </p:nvSpPr>
        <p:spPr>
          <a:xfrm>
            <a:off x="7875606" y="5681462"/>
            <a:ext cx="3924513" cy="332527"/>
          </a:xfrm>
          <a:prstGeom prst="rect">
            <a:avLst/>
          </a:prstGeom>
          <a:noFill/>
        </p:spPr>
        <p:txBody>
          <a:bodyPr wrap="square">
            <a:spAutoFit/>
          </a:bodyPr>
          <a:lstStyle/>
          <a:p>
            <a:pPr>
              <a:lnSpc>
                <a:spcPct val="104166"/>
              </a:lnSpc>
            </a:pPr>
            <a:r>
              <a:rPr lang="nn-NO"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Prof Priyanka Dhasal &amp; Radha Yadav</a:t>
            </a:r>
            <a:endParaRPr lang="nn-NO" sz="1200"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84442D09-30B2-3EB4-8C09-98DB211F2807}"/>
              </a:ext>
            </a:extLst>
          </p:cNvPr>
          <p:cNvSpPr txBox="1"/>
          <p:nvPr/>
        </p:nvSpPr>
        <p:spPr>
          <a:xfrm>
            <a:off x="8831826" y="6049132"/>
            <a:ext cx="1922206" cy="332527"/>
          </a:xfrm>
          <a:prstGeom prst="rect">
            <a:avLst/>
          </a:prstGeom>
          <a:noFill/>
        </p:spPr>
        <p:txBody>
          <a:bodyPr wrap="square">
            <a:spAutoFit/>
          </a:bodyPr>
          <a:lstStyle/>
          <a:p>
            <a:pPr>
              <a:lnSpc>
                <a:spcPct val="104166"/>
              </a:lnSpc>
              <a:spcBef>
                <a:spcPts val="500"/>
              </a:spcBef>
            </a:pPr>
            <a:r>
              <a:rPr lang="en-US"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CSE Department</a:t>
            </a:r>
            <a:endParaRPr lang="en-US" sz="1200"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53" name="Google Shape;54;p1"/>
          <p:cNvSpPr/>
          <p:nvPr/>
        </p:nvSpPr>
        <p:spPr>
          <a:xfrm>
            <a:off x="4084872" y="1047229"/>
            <a:ext cx="2687439" cy="335955"/>
          </a:xfrm>
          <a:prstGeom prst="rect">
            <a:avLst/>
          </a:prstGeom>
          <a:noFill/>
          <a:ln>
            <a:noFill/>
          </a:ln>
        </p:spPr>
        <p:txBody>
          <a:bodyPr spcFirstLastPara="1" wrap="square" lIns="0" tIns="0" rIns="0" bIns="0" anchor="t" anchorCtr="0">
            <a:noAutofit/>
          </a:bodyPr>
          <a:lstStyle/>
          <a:p>
            <a:pPr algn="ctr">
              <a:lnSpc>
                <a:spcPct val="112500"/>
              </a:lnSpc>
              <a:buClr>
                <a:srgbClr val="000000"/>
              </a:buClr>
              <a:buSzPts val="2800"/>
            </a:pPr>
            <a:r>
              <a:rPr lang="en-US" sz="2333" b="1" dirty="0" err="1">
                <a:solidFill>
                  <a:srgbClr val="000000"/>
                </a:solidFill>
                <a:latin typeface="Times New Roman" panose="02020603050405020304" pitchFamily="18" charset="0"/>
                <a:ea typeface="Times New Roman"/>
                <a:cs typeface="Times New Roman" panose="02020603050405020304" pitchFamily="18" charset="0"/>
                <a:sym typeface="Times New Roman"/>
              </a:rPr>
              <a:t>B.Tech</a:t>
            </a:r>
            <a:r>
              <a:rPr lang="en-US" sz="2333" b="1" dirty="0">
                <a:solidFill>
                  <a:srgbClr val="000000"/>
                </a:solidFill>
                <a:latin typeface="Times New Roman" panose="02020603050405020304" pitchFamily="18" charset="0"/>
                <a:ea typeface="Times New Roman"/>
                <a:cs typeface="Times New Roman" panose="02020603050405020304" pitchFamily="18" charset="0"/>
                <a:sym typeface="Times New Roman"/>
              </a:rPr>
              <a:t> - CSE</a:t>
            </a:r>
            <a:endParaRPr sz="2333"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57" name="Google Shape;55;p1"/>
          <p:cNvSpPr/>
          <p:nvPr/>
        </p:nvSpPr>
        <p:spPr>
          <a:xfrm>
            <a:off x="4420778" y="1424790"/>
            <a:ext cx="2015629" cy="252016"/>
          </a:xfrm>
          <a:prstGeom prst="rect">
            <a:avLst/>
          </a:prstGeom>
          <a:noFill/>
          <a:ln>
            <a:noFill/>
          </a:ln>
        </p:spPr>
        <p:txBody>
          <a:bodyPr spcFirstLastPara="1" wrap="square" lIns="0" tIns="0" rIns="0" bIns="0" anchor="t" anchorCtr="0">
            <a:noAutofit/>
          </a:bodyPr>
          <a:lstStyle/>
          <a:p>
            <a:pPr algn="ctr">
              <a:lnSpc>
                <a:spcPct val="97916"/>
              </a:lnSpc>
              <a:buClr>
                <a:srgbClr val="000000"/>
              </a:buClr>
              <a:buSzPts val="2400"/>
            </a:pPr>
            <a:r>
              <a:rPr lang="en-US"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Eight Semester</a:t>
            </a:r>
            <a:endParaRPr sz="1600"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58167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2250" fill="hold"/>
                                        <p:tgtEl>
                                          <p:spTgt spid="60"/>
                                        </p:tgtEl>
                                        <p:attrNameLst>
                                          <p:attrName>ppt_x</p:attrName>
                                        </p:attrNameLst>
                                      </p:cBhvr>
                                      <p:tavLst>
                                        <p:tav tm="0">
                                          <p:val>
                                            <p:strVal val="#ppt_x"/>
                                          </p:val>
                                        </p:tav>
                                        <p:tav tm="100000">
                                          <p:val>
                                            <p:strVal val="#ppt_x"/>
                                          </p:val>
                                        </p:tav>
                                      </p:tavLst>
                                    </p:anim>
                                    <p:anim calcmode="lin" valueType="num">
                                      <p:cBhvr additive="base">
                                        <p:cTn id="8" dur="225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D11FE58B-6C6A-BED4-9147-12D7B9030158}"/>
              </a:ext>
            </a:extLst>
          </p:cNvPr>
          <p:cNvGrpSpPr/>
          <p:nvPr/>
        </p:nvGrpSpPr>
        <p:grpSpPr>
          <a:xfrm>
            <a:off x="5498432" y="600470"/>
            <a:ext cx="6212306" cy="4228171"/>
            <a:chOff x="5714331" y="422275"/>
            <a:chExt cx="6204429" cy="4061070"/>
          </a:xfrm>
          <a:solidFill>
            <a:schemeClr val="accent6">
              <a:lumMod val="75000"/>
            </a:schemeClr>
          </a:solidFill>
        </p:grpSpPr>
        <p:sp>
          <p:nvSpPr>
            <p:cNvPr id="4" name="Graphic 7">
              <a:extLst>
                <a:ext uri="{FF2B5EF4-FFF2-40B4-BE49-F238E27FC236}">
                  <a16:creationId xmlns:a16="http://schemas.microsoft.com/office/drawing/2014/main" id="{37E76958-C373-594C-BDD0-9BE98C6AFF17}"/>
                </a:ext>
              </a:extLst>
            </p:cNvPr>
            <p:cNvSpPr/>
            <p:nvPr/>
          </p:nvSpPr>
          <p:spPr>
            <a:xfrm>
              <a:off x="5714333" y="422275"/>
              <a:ext cx="3802599" cy="602655"/>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INTRODUCTION</a:t>
              </a:r>
            </a:p>
          </p:txBody>
        </p:sp>
        <p:sp>
          <p:nvSpPr>
            <p:cNvPr id="5" name="Graphic 7">
              <a:extLst>
                <a:ext uri="{FF2B5EF4-FFF2-40B4-BE49-F238E27FC236}">
                  <a16:creationId xmlns:a16="http://schemas.microsoft.com/office/drawing/2014/main" id="{E1D4BC09-E6D4-82E1-3338-73B4CFA93453}"/>
                </a:ext>
              </a:extLst>
            </p:cNvPr>
            <p:cNvSpPr/>
            <p:nvPr/>
          </p:nvSpPr>
          <p:spPr>
            <a:xfrm>
              <a:off x="5714332" y="1801603"/>
              <a:ext cx="4662383" cy="602655"/>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PROBLEM DEFINITION</a:t>
              </a:r>
            </a:p>
          </p:txBody>
        </p:sp>
        <p:sp>
          <p:nvSpPr>
            <p:cNvPr id="6" name="Graphic 7">
              <a:extLst>
                <a:ext uri="{FF2B5EF4-FFF2-40B4-BE49-F238E27FC236}">
                  <a16:creationId xmlns:a16="http://schemas.microsoft.com/office/drawing/2014/main" id="{CFB1CB81-AA13-5756-65B9-38ED15C31CC1}"/>
                </a:ext>
              </a:extLst>
            </p:cNvPr>
            <p:cNvSpPr/>
            <p:nvPr/>
          </p:nvSpPr>
          <p:spPr>
            <a:xfrm>
              <a:off x="5714331" y="3191753"/>
              <a:ext cx="3802599" cy="602655"/>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TOOLS AND TECHNOLOGY</a:t>
              </a:r>
            </a:p>
          </p:txBody>
        </p:sp>
        <p:sp>
          <p:nvSpPr>
            <p:cNvPr id="12" name="Graphic 7">
              <a:extLst>
                <a:ext uri="{FF2B5EF4-FFF2-40B4-BE49-F238E27FC236}">
                  <a16:creationId xmlns:a16="http://schemas.microsoft.com/office/drawing/2014/main" id="{1650689B-EF5E-20F8-400F-73C155E15800}"/>
                </a:ext>
              </a:extLst>
            </p:cNvPr>
            <p:cNvSpPr/>
            <p:nvPr/>
          </p:nvSpPr>
          <p:spPr>
            <a:xfrm>
              <a:off x="7615632" y="1112668"/>
              <a:ext cx="4303128" cy="602655"/>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LITERATURE REVIEW</a:t>
              </a:r>
            </a:p>
          </p:txBody>
        </p:sp>
        <p:sp>
          <p:nvSpPr>
            <p:cNvPr id="13" name="Graphic 7">
              <a:extLst>
                <a:ext uri="{FF2B5EF4-FFF2-40B4-BE49-F238E27FC236}">
                  <a16:creationId xmlns:a16="http://schemas.microsoft.com/office/drawing/2014/main" id="{8CEE1ED8-0067-1DCC-EE88-64AF0D278D83}"/>
                </a:ext>
              </a:extLst>
            </p:cNvPr>
            <p:cNvSpPr/>
            <p:nvPr/>
          </p:nvSpPr>
          <p:spPr>
            <a:xfrm>
              <a:off x="7256377" y="2496678"/>
              <a:ext cx="4662383" cy="602655"/>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OBJECTIVES</a:t>
              </a:r>
            </a:p>
          </p:txBody>
        </p:sp>
        <p:sp>
          <p:nvSpPr>
            <p:cNvPr id="14" name="Graphic 7">
              <a:extLst>
                <a:ext uri="{FF2B5EF4-FFF2-40B4-BE49-F238E27FC236}">
                  <a16:creationId xmlns:a16="http://schemas.microsoft.com/office/drawing/2014/main" id="{BBBAF732-DCB9-6675-6445-9B5E5BE179AE}"/>
                </a:ext>
              </a:extLst>
            </p:cNvPr>
            <p:cNvSpPr/>
            <p:nvPr/>
          </p:nvSpPr>
          <p:spPr>
            <a:xfrm>
              <a:off x="7256377" y="3880689"/>
              <a:ext cx="4662383" cy="602656"/>
            </a:xfrm>
            <a:prstGeom prst="roundRect">
              <a:avLst>
                <a:gd name="adj" fmla="val 50000"/>
              </a:avLst>
            </a:prstGeom>
            <a:grp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METHODOLOGY</a:t>
              </a:r>
            </a:p>
          </p:txBody>
        </p:sp>
      </p:grpSp>
      <p:sp>
        <p:nvSpPr>
          <p:cNvPr id="2" name="Graphic 7">
            <a:extLst>
              <a:ext uri="{FF2B5EF4-FFF2-40B4-BE49-F238E27FC236}">
                <a16:creationId xmlns:a16="http://schemas.microsoft.com/office/drawing/2014/main" id="{CFB1CB81-AA13-5756-65B9-38ED15C31CC1}"/>
              </a:ext>
            </a:extLst>
          </p:cNvPr>
          <p:cNvSpPr/>
          <p:nvPr/>
        </p:nvSpPr>
        <p:spPr>
          <a:xfrm>
            <a:off x="5524543" y="4918472"/>
            <a:ext cx="4668302" cy="627454"/>
          </a:xfrm>
          <a:prstGeom prst="roundRect">
            <a:avLst>
              <a:gd name="adj" fmla="val 50000"/>
            </a:avLst>
          </a:prstGeom>
          <a:solidFill>
            <a:schemeClr val="accent6">
              <a:lumMod val="75000"/>
            </a:schemeClr>
          </a:solid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a:solidFill>
                  <a:schemeClr val="accent3">
                    <a:lumMod val="20000"/>
                    <a:lumOff val="80000"/>
                  </a:schemeClr>
                </a:solidFill>
                <a:latin typeface="Montserrat" panose="00000500000000000000" pitchFamily="2" charset="0"/>
              </a:rPr>
              <a:t>CONCLUSION</a:t>
            </a:r>
            <a:endParaRPr lang="en-IN" dirty="0">
              <a:solidFill>
                <a:schemeClr val="accent3">
                  <a:lumMod val="20000"/>
                  <a:lumOff val="80000"/>
                </a:schemeClr>
              </a:solidFill>
              <a:latin typeface="Montserrat" panose="00000500000000000000" pitchFamily="2" charset="0"/>
            </a:endParaRPr>
          </a:p>
        </p:txBody>
      </p:sp>
      <p:sp>
        <p:nvSpPr>
          <p:cNvPr id="7" name="Graphic 7">
            <a:extLst>
              <a:ext uri="{FF2B5EF4-FFF2-40B4-BE49-F238E27FC236}">
                <a16:creationId xmlns:a16="http://schemas.microsoft.com/office/drawing/2014/main" id="{1592C77D-68B3-C812-2EE6-810D2C98B316}"/>
              </a:ext>
            </a:extLst>
          </p:cNvPr>
          <p:cNvSpPr/>
          <p:nvPr/>
        </p:nvSpPr>
        <p:spPr>
          <a:xfrm>
            <a:off x="7130925" y="5626184"/>
            <a:ext cx="4668302" cy="627454"/>
          </a:xfrm>
          <a:prstGeom prst="roundRect">
            <a:avLst>
              <a:gd name="adj" fmla="val 50000"/>
            </a:avLst>
          </a:prstGeom>
          <a:solidFill>
            <a:schemeClr val="accent6">
              <a:lumMod val="75000"/>
            </a:schemeClr>
          </a:solidFill>
          <a:ln w="3810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solidFill>
                  <a:schemeClr val="accent3">
                    <a:lumMod val="20000"/>
                    <a:lumOff val="80000"/>
                  </a:schemeClr>
                </a:solidFill>
                <a:latin typeface="Montserrat" panose="00000500000000000000" pitchFamily="2" charset="0"/>
              </a:rPr>
              <a:t>REFERENCES</a:t>
            </a:r>
          </a:p>
        </p:txBody>
      </p:sp>
      <p:sp>
        <p:nvSpPr>
          <p:cNvPr id="10" name="Rectangle 9">
            <a:extLst>
              <a:ext uri="{FF2B5EF4-FFF2-40B4-BE49-F238E27FC236}">
                <a16:creationId xmlns:a16="http://schemas.microsoft.com/office/drawing/2014/main" id="{0BAB9BE1-FFAA-7BA0-09AA-CDF0AC5AB997}"/>
              </a:ext>
            </a:extLst>
          </p:cNvPr>
          <p:cNvSpPr/>
          <p:nvPr/>
        </p:nvSpPr>
        <p:spPr>
          <a:xfrm>
            <a:off x="289670" y="3117558"/>
            <a:ext cx="3488386" cy="16148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D06A3141-A35D-4FFA-B066-F1C518C07C8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506341" y="1207441"/>
            <a:ext cx="2790709" cy="2180242"/>
          </a:xfrm>
          <a:prstGeom prst="rect">
            <a:avLst/>
          </a:prstGeom>
        </p:spPr>
      </p:pic>
      <p:pic>
        <p:nvPicPr>
          <p:cNvPr id="11" name="Picture 10">
            <a:extLst>
              <a:ext uri="{FF2B5EF4-FFF2-40B4-BE49-F238E27FC236}">
                <a16:creationId xmlns:a16="http://schemas.microsoft.com/office/drawing/2014/main" id="{E8DEB65A-675F-7C9A-07BB-7EB05A5069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0883" y="4217648"/>
            <a:ext cx="4369427" cy="1909440"/>
          </a:xfrm>
          <a:prstGeom prst="rect">
            <a:avLst/>
          </a:prstGeom>
        </p:spPr>
      </p:pic>
      <p:grpSp>
        <p:nvGrpSpPr>
          <p:cNvPr id="15" name="Group 14">
            <a:extLst>
              <a:ext uri="{FF2B5EF4-FFF2-40B4-BE49-F238E27FC236}">
                <a16:creationId xmlns:a16="http://schemas.microsoft.com/office/drawing/2014/main" id="{06431ED3-FF44-0E7B-2060-5964BF178F34}"/>
              </a:ext>
            </a:extLst>
          </p:cNvPr>
          <p:cNvGrpSpPr/>
          <p:nvPr/>
        </p:nvGrpSpPr>
        <p:grpSpPr>
          <a:xfrm>
            <a:off x="350545" y="292754"/>
            <a:ext cx="481744" cy="129306"/>
            <a:chOff x="7819360" y="5848684"/>
            <a:chExt cx="605082" cy="166266"/>
          </a:xfrm>
          <a:solidFill>
            <a:schemeClr val="accent6"/>
          </a:solidFill>
        </p:grpSpPr>
        <p:sp>
          <p:nvSpPr>
            <p:cNvPr id="16" name="Oval 15">
              <a:extLst>
                <a:ext uri="{FF2B5EF4-FFF2-40B4-BE49-F238E27FC236}">
                  <a16:creationId xmlns:a16="http://schemas.microsoft.com/office/drawing/2014/main" id="{E991EB4F-2AE3-AB06-438B-0176C4BA28CA}"/>
                </a:ext>
              </a:extLst>
            </p:cNvPr>
            <p:cNvSpPr/>
            <p:nvPr/>
          </p:nvSpPr>
          <p:spPr>
            <a:xfrm>
              <a:off x="7819360" y="5848684"/>
              <a:ext cx="166266" cy="166266"/>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B373CEC-2C32-C0A8-2110-CA8B2692D22E}"/>
                </a:ext>
              </a:extLst>
            </p:cNvPr>
            <p:cNvSpPr/>
            <p:nvPr/>
          </p:nvSpPr>
          <p:spPr>
            <a:xfrm>
              <a:off x="8038768" y="5848684"/>
              <a:ext cx="166266" cy="166266"/>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C4E7EB1-D34A-45CA-1E1A-1B3D51C18DEA}"/>
                </a:ext>
              </a:extLst>
            </p:cNvPr>
            <p:cNvSpPr/>
            <p:nvPr/>
          </p:nvSpPr>
          <p:spPr>
            <a:xfrm>
              <a:off x="8258176" y="5848684"/>
              <a:ext cx="166266" cy="166266"/>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B55453DD-9A1E-ABB6-E5CC-001B2215D870}"/>
              </a:ext>
            </a:extLst>
          </p:cNvPr>
          <p:cNvSpPr txBox="1"/>
          <p:nvPr/>
        </p:nvSpPr>
        <p:spPr>
          <a:xfrm>
            <a:off x="699914" y="3520191"/>
            <a:ext cx="3802599" cy="584775"/>
          </a:xfrm>
          <a:prstGeom prst="rect">
            <a:avLst/>
          </a:prstGeom>
          <a:noFill/>
        </p:spPr>
        <p:txBody>
          <a:bodyPr wrap="square">
            <a:spAutoFit/>
          </a:bodyPr>
          <a:lstStyle/>
          <a:p>
            <a:r>
              <a:rPr lang="en-US" sz="3200" b="1" i="0" dirty="0">
                <a:solidFill>
                  <a:schemeClr val="accent6">
                    <a:lumMod val="60000"/>
                    <a:lumOff val="40000"/>
                  </a:schemeClr>
                </a:solidFill>
                <a:effectLst/>
                <a:latin typeface="Montserrat" panose="00000500000000000000" pitchFamily="2" charset="0"/>
              </a:rPr>
              <a:t>Contents :- </a:t>
            </a:r>
            <a:endParaRPr lang="en-US" sz="3200" b="0" i="0" dirty="0">
              <a:solidFill>
                <a:schemeClr val="accent6">
                  <a:lumMod val="60000"/>
                  <a:lumOff val="40000"/>
                </a:schemeClr>
              </a:solidFill>
              <a:effectLst/>
              <a:latin typeface="Montserrat" panose="00000500000000000000" pitchFamily="2" charset="0"/>
            </a:endParaRPr>
          </a:p>
        </p:txBody>
      </p:sp>
      <p:sp>
        <p:nvSpPr>
          <p:cNvPr id="27" name="Rectangle 26">
            <a:extLst>
              <a:ext uri="{FF2B5EF4-FFF2-40B4-BE49-F238E27FC236}">
                <a16:creationId xmlns:a16="http://schemas.microsoft.com/office/drawing/2014/main" id="{BE2D1347-9E97-335E-4C47-DC69C2D43772}"/>
              </a:ext>
            </a:extLst>
          </p:cNvPr>
          <p:cNvSpPr/>
          <p:nvPr/>
        </p:nvSpPr>
        <p:spPr>
          <a:xfrm>
            <a:off x="137652" y="157316"/>
            <a:ext cx="11916696" cy="656794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0E9BEAEA-4C61-43E7-DA2D-1EA37C5C4F6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6145" y="2567784"/>
            <a:ext cx="1527698" cy="1372541"/>
          </a:xfrm>
          <a:prstGeom prst="rect">
            <a:avLst/>
          </a:prstGeom>
        </p:spPr>
      </p:pic>
    </p:spTree>
    <p:extLst>
      <p:ext uri="{BB962C8B-B14F-4D97-AF65-F5344CB8AC3E}">
        <p14:creationId xmlns:p14="http://schemas.microsoft.com/office/powerpoint/2010/main" val="224422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plant&#10;&#10;Description automatically generated with low confidence">
            <a:extLst>
              <a:ext uri="{FF2B5EF4-FFF2-40B4-BE49-F238E27FC236}">
                <a16:creationId xmlns:a16="http://schemas.microsoft.com/office/drawing/2014/main" id="{23B0F816-6863-F9DA-363F-D33F7F894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9020" y="673100"/>
            <a:ext cx="1482980" cy="3784600"/>
          </a:xfrm>
          <a:prstGeom prst="rect">
            <a:avLst/>
          </a:prstGeom>
        </p:spPr>
      </p:pic>
      <p:sp>
        <p:nvSpPr>
          <p:cNvPr id="4" name="Rectangle 3">
            <a:extLst>
              <a:ext uri="{FF2B5EF4-FFF2-40B4-BE49-F238E27FC236}">
                <a16:creationId xmlns:a16="http://schemas.microsoft.com/office/drawing/2014/main" id="{F1935F68-5BF3-4871-E1F6-BE4FF26BDA2B}"/>
              </a:ext>
            </a:extLst>
          </p:cNvPr>
          <p:cNvSpPr/>
          <p:nvPr/>
        </p:nvSpPr>
        <p:spPr>
          <a:xfrm>
            <a:off x="0" y="0"/>
            <a:ext cx="3683000"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6" name="Picture 5" descr="A picture containing vegetable, plant, lettuce, greenhouse&#10;&#10;Description automatically generated">
            <a:extLst>
              <a:ext uri="{FF2B5EF4-FFF2-40B4-BE49-F238E27FC236}">
                <a16:creationId xmlns:a16="http://schemas.microsoft.com/office/drawing/2014/main" id="{03A3A25F-7320-21B9-E7A3-1BFCA8713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360" y="685800"/>
            <a:ext cx="4114800" cy="5486400"/>
          </a:xfrm>
          <a:prstGeom prst="rect">
            <a:avLst/>
          </a:prstGeom>
          <a:ln w="38100">
            <a:solidFill>
              <a:schemeClr val="bg1"/>
            </a:solidFill>
          </a:ln>
          <a:effectLst>
            <a:outerShdw blurRad="63500" sx="102000" sy="102000" algn="ctr" rotWithShape="0">
              <a:prstClr val="black">
                <a:alpha val="15000"/>
              </a:prstClr>
            </a:outerShdw>
          </a:effectLst>
        </p:spPr>
      </p:pic>
      <p:sp>
        <p:nvSpPr>
          <p:cNvPr id="8" name="TextBox 7">
            <a:extLst>
              <a:ext uri="{FF2B5EF4-FFF2-40B4-BE49-F238E27FC236}">
                <a16:creationId xmlns:a16="http://schemas.microsoft.com/office/drawing/2014/main" id="{7987CF61-6C06-F8F7-3D09-D5E0F5F35D23}"/>
              </a:ext>
            </a:extLst>
          </p:cNvPr>
          <p:cNvSpPr txBox="1"/>
          <p:nvPr/>
        </p:nvSpPr>
        <p:spPr>
          <a:xfrm>
            <a:off x="5102449" y="673100"/>
            <a:ext cx="3527056" cy="830997"/>
          </a:xfrm>
          <a:prstGeom prst="rect">
            <a:avLst/>
          </a:prstGeom>
          <a:noFill/>
        </p:spPr>
        <p:txBody>
          <a:bodyPr wrap="none" rtlCol="0">
            <a:spAutoFit/>
          </a:bodyPr>
          <a:lstStyle/>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Introduction</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2B7CB94-A231-28D5-6F69-5BD7B08C1978}"/>
              </a:ext>
            </a:extLst>
          </p:cNvPr>
          <p:cNvSpPr txBox="1"/>
          <p:nvPr/>
        </p:nvSpPr>
        <p:spPr>
          <a:xfrm>
            <a:off x="5083277" y="1473593"/>
            <a:ext cx="5625743" cy="1323439"/>
          </a:xfrm>
          <a:prstGeom prst="rect">
            <a:avLst/>
          </a:prstGeom>
          <a:noFill/>
        </p:spPr>
        <p:txBody>
          <a:bodyPr wrap="square">
            <a:spAutoFit/>
          </a:bodyPr>
          <a:lstStyle/>
          <a:p>
            <a:pPr algn="just"/>
            <a:r>
              <a:rPr lang="en-US" sz="1600" b="1" dirty="0">
                <a:latin typeface="Times New Roman" panose="02020603050405020304" pitchFamily="18" charset="0"/>
                <a:cs typeface="Times New Roman" panose="02020603050405020304" pitchFamily="18" charset="0"/>
              </a:rPr>
              <a:t>Agricultural Importance &amp; Challenges</a:t>
            </a:r>
            <a:r>
              <a:rPr lang="en-US" sz="1600" dirty="0">
                <a:latin typeface="Times New Roman" panose="02020603050405020304" pitchFamily="18" charset="0"/>
                <a:cs typeface="Times New Roman" panose="02020603050405020304" pitchFamily="18" charset="0"/>
              </a:rPr>
              <a:t>: Agriculture provides food security, employment, and raw materials globally. Challenges include unpredictable weather, soil degradation, pest outbreaks, and inefficient resource use. Innovative technology is essential for sustaining productivity and environmental health.</a:t>
            </a:r>
          </a:p>
        </p:txBody>
      </p:sp>
      <p:sp>
        <p:nvSpPr>
          <p:cNvPr id="16" name="TextBox 15">
            <a:extLst>
              <a:ext uri="{FF2B5EF4-FFF2-40B4-BE49-F238E27FC236}">
                <a16:creationId xmlns:a16="http://schemas.microsoft.com/office/drawing/2014/main" id="{FC9B82F9-084D-CC1A-92AF-E787B86BE41A}"/>
              </a:ext>
            </a:extLst>
          </p:cNvPr>
          <p:cNvSpPr txBox="1"/>
          <p:nvPr/>
        </p:nvSpPr>
        <p:spPr>
          <a:xfrm>
            <a:off x="5083277" y="2965646"/>
            <a:ext cx="6096000" cy="1323439"/>
          </a:xfrm>
          <a:prstGeom prst="rect">
            <a:avLst/>
          </a:prstGeom>
          <a:noFill/>
        </p:spPr>
        <p:txBody>
          <a:bodyPr wrap="square">
            <a:spAutoFit/>
          </a:bodyPr>
          <a:lstStyle/>
          <a:p>
            <a:pPr algn="just"/>
            <a:r>
              <a:rPr lang="en-US" sz="1600" b="1" dirty="0">
                <a:latin typeface="Times New Roman" panose="02020603050405020304" pitchFamily="18" charset="0"/>
                <a:cs typeface="Times New Roman" panose="02020603050405020304" pitchFamily="18" charset="0"/>
              </a:rPr>
              <a:t>Technological Advancements</a:t>
            </a:r>
            <a:r>
              <a:rPr lang="en-US" sz="1600" dirty="0">
                <a:latin typeface="Times New Roman" panose="02020603050405020304" pitchFamily="18" charset="0"/>
                <a:cs typeface="Times New Roman" panose="02020603050405020304" pitchFamily="18" charset="0"/>
              </a:rPr>
              <a:t>: The Fourth Industrial Revolution introduces ML and DL to agriculture. These technologies enable analysis of complex data, accurate predictions, and actionable insights. ML/DL support yield prediction, disease detection, and nutrient management.</a:t>
            </a:r>
          </a:p>
        </p:txBody>
      </p:sp>
      <p:sp>
        <p:nvSpPr>
          <p:cNvPr id="85" name="Google Shape;85;p3"/>
          <p:cNvSpPr/>
          <p:nvPr/>
        </p:nvSpPr>
        <p:spPr>
          <a:xfrm>
            <a:off x="5115464" y="4424361"/>
            <a:ext cx="6179939" cy="1122827"/>
          </a:xfrm>
          <a:prstGeom prst="rect">
            <a:avLst/>
          </a:prstGeom>
          <a:noFill/>
          <a:ln>
            <a:noFill/>
          </a:ln>
        </p:spPr>
        <p:txBody>
          <a:bodyPr spcFirstLastPara="1" wrap="square" lIns="0" tIns="0" rIns="0" bIns="0" anchor="t" anchorCtr="0">
            <a:noAutofit/>
          </a:bodyPr>
          <a:lstStyle/>
          <a:p>
            <a:pPr algn="just"/>
            <a:r>
              <a:rPr lang="en-US" sz="1600" b="1" dirty="0" err="1">
                <a:latin typeface="Times New Roman" panose="02020603050405020304" pitchFamily="18" charset="0"/>
                <a:cs typeface="Times New Roman" panose="02020603050405020304" pitchFamily="18" charset="0"/>
              </a:rPr>
              <a:t>KrishiDisha</a:t>
            </a:r>
            <a:r>
              <a:rPr lang="en-US" sz="1600" b="1" dirty="0">
                <a:latin typeface="Times New Roman" panose="02020603050405020304" pitchFamily="18" charset="0"/>
                <a:cs typeface="Times New Roman" panose="02020603050405020304" pitchFamily="18" charset="0"/>
              </a:rPr>
              <a:t>: A Holistic Solution</a:t>
            </a:r>
            <a:r>
              <a:rPr lang="en-US" sz="1600" dirty="0">
                <a:latin typeface="Times New Roman" panose="02020603050405020304" pitchFamily="18" charset="0"/>
                <a:cs typeface="Times New Roman" panose="02020603050405020304" pitchFamily="18" charset="0"/>
              </a:rPr>
              <a:t>: Integrates crop recommendations, fertilizer optimization, disease detection, and yield prediction into one platform. </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7" name="Rectangle 26">
            <a:extLst>
              <a:ext uri="{FF2B5EF4-FFF2-40B4-BE49-F238E27FC236}">
                <a16:creationId xmlns:a16="http://schemas.microsoft.com/office/drawing/2014/main" id="{BE2D1347-9E97-335E-4C47-DC69C2D43772}"/>
              </a:ext>
            </a:extLst>
          </p:cNvPr>
          <p:cNvSpPr/>
          <p:nvPr/>
        </p:nvSpPr>
        <p:spPr>
          <a:xfrm>
            <a:off x="275304" y="145025"/>
            <a:ext cx="11916696" cy="656794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4946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plant&#10;&#10;Description automatically generated with low confidence">
            <a:extLst>
              <a:ext uri="{FF2B5EF4-FFF2-40B4-BE49-F238E27FC236}">
                <a16:creationId xmlns:a16="http://schemas.microsoft.com/office/drawing/2014/main" id="{23B0F816-6863-F9DA-363F-D33F7F894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251499" y="2039784"/>
            <a:ext cx="1373659" cy="3505609"/>
          </a:xfrm>
          <a:prstGeom prst="rect">
            <a:avLst/>
          </a:prstGeom>
        </p:spPr>
      </p:pic>
      <p:sp>
        <p:nvSpPr>
          <p:cNvPr id="4" name="Rectangle 3">
            <a:extLst>
              <a:ext uri="{FF2B5EF4-FFF2-40B4-BE49-F238E27FC236}">
                <a16:creationId xmlns:a16="http://schemas.microsoft.com/office/drawing/2014/main" id="{F1935F68-5BF3-4871-E1F6-BE4FF26BDA2B}"/>
              </a:ext>
            </a:extLst>
          </p:cNvPr>
          <p:cNvSpPr/>
          <p:nvPr/>
        </p:nvSpPr>
        <p:spPr>
          <a:xfrm>
            <a:off x="8509000" y="145025"/>
            <a:ext cx="3683000" cy="656794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987CF61-6C06-F8F7-3D09-D5E0F5F35D23}"/>
              </a:ext>
            </a:extLst>
          </p:cNvPr>
          <p:cNvSpPr txBox="1"/>
          <p:nvPr/>
        </p:nvSpPr>
        <p:spPr>
          <a:xfrm>
            <a:off x="463421" y="359935"/>
            <a:ext cx="4972964" cy="830997"/>
          </a:xfrm>
          <a:prstGeom prst="rect">
            <a:avLst/>
          </a:prstGeom>
          <a:noFill/>
        </p:spPr>
        <p:txBody>
          <a:bodyPr wrap="none" rtlCol="0">
            <a:spAutoFit/>
          </a:bodyPr>
          <a:lstStyle/>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Literature Review</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BE2D1347-9E97-335E-4C47-DC69C2D43772}"/>
              </a:ext>
            </a:extLst>
          </p:cNvPr>
          <p:cNvSpPr/>
          <p:nvPr/>
        </p:nvSpPr>
        <p:spPr>
          <a:xfrm>
            <a:off x="275304" y="145025"/>
            <a:ext cx="11916696" cy="656794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3E6346D-8C44-34F8-D0BF-19430FE7E1FB}"/>
              </a:ext>
            </a:extLst>
          </p:cNvPr>
          <p:cNvSpPr txBox="1"/>
          <p:nvPr/>
        </p:nvSpPr>
        <p:spPr>
          <a:xfrm>
            <a:off x="853777" y="1373543"/>
            <a:ext cx="6555212" cy="1384995"/>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Recent studies in precision agriculture highlight the transformative impact of AI in addressing key challenges. In crop recommendation, Kumar et al. [1] used a Random Forest model on the Crop_recommendation.csv dataset to achieve around 96% accuracy by emphasizing feature importance and interpretability. In contrast, our approach integrates an ensemble of models (SVM, Gradient Boosting, Extra Trees, etc.) to reach accuracies up to 99.3%, providing more robust recommendations.</a:t>
            </a:r>
            <a:endParaRPr lang="en-US" sz="2800" dirty="0"/>
          </a:p>
        </p:txBody>
      </p:sp>
      <p:sp>
        <p:nvSpPr>
          <p:cNvPr id="5" name="TextBox 4">
            <a:extLst>
              <a:ext uri="{FF2B5EF4-FFF2-40B4-BE49-F238E27FC236}">
                <a16:creationId xmlns:a16="http://schemas.microsoft.com/office/drawing/2014/main" id="{B2306279-6DB4-A1A9-2AD6-899AC9851EF8}"/>
              </a:ext>
            </a:extLst>
          </p:cNvPr>
          <p:cNvSpPr txBox="1"/>
          <p:nvPr/>
        </p:nvSpPr>
        <p:spPr>
          <a:xfrm>
            <a:off x="1426713" y="2729780"/>
            <a:ext cx="5982276" cy="1169551"/>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For fertilizer optimization, Gupta et al. [2] demonstrated high accuracy using decision tree algorithms on Fertilizer Prediction.csv. Building on this, subsequent research [3], [4] showed that ensemble methods and gradient boosting further enhance performance by balancing overfitting and generalization. Our system leverages multiple algorithms to deliver comprehensive fertilizer guidance.</a:t>
            </a:r>
          </a:p>
        </p:txBody>
      </p:sp>
      <p:sp>
        <p:nvSpPr>
          <p:cNvPr id="10" name="TextBox 9">
            <a:extLst>
              <a:ext uri="{FF2B5EF4-FFF2-40B4-BE49-F238E27FC236}">
                <a16:creationId xmlns:a16="http://schemas.microsoft.com/office/drawing/2014/main" id="{86D8EE28-49AA-79A3-B164-2486F10711CB}"/>
              </a:ext>
            </a:extLst>
          </p:cNvPr>
          <p:cNvSpPr txBox="1"/>
          <p:nvPr/>
        </p:nvSpPr>
        <p:spPr>
          <a:xfrm>
            <a:off x="1451677" y="4041656"/>
            <a:ext cx="5932349" cy="2246769"/>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Crop yield prediction has also advanced through AI. Das et al. [5] compared various regression models using crop yield data and found that gradient boosting, when finely tuned, delivers excellent performance. Our optimized gradient boosting regressor achieves a Test R² of 0.9793, underscoring its reliability in real-world scenarios.</a:t>
            </a:r>
          </a:p>
          <a:p>
            <a:pPr algn="just"/>
            <a:r>
              <a:rPr lang="en-US" sz="1400" dirty="0">
                <a:latin typeface="Times New Roman" panose="02020603050405020304" pitchFamily="18" charset="0"/>
                <a:cs typeface="Times New Roman" panose="02020603050405020304" pitchFamily="18" charset="0"/>
              </a:rPr>
              <a:t>In the domain of crop disease detection, </a:t>
            </a:r>
            <a:r>
              <a:rPr lang="en-US" sz="1400" dirty="0" err="1">
                <a:latin typeface="Times New Roman" panose="02020603050405020304" pitchFamily="18" charset="0"/>
                <a:cs typeface="Times New Roman" panose="02020603050405020304" pitchFamily="18" charset="0"/>
              </a:rPr>
              <a:t>Ferentinos</a:t>
            </a:r>
            <a:r>
              <a:rPr lang="en-US" sz="1400" dirty="0">
                <a:latin typeface="Times New Roman" panose="02020603050405020304" pitchFamily="18" charset="0"/>
                <a:cs typeface="Times New Roman" panose="02020603050405020304" pitchFamily="18" charset="0"/>
              </a:rPr>
              <a:t> [6] demonstrated that deep CNNs trained on the Plant Village dataset can achieve over 95% accuracy. Our custom-designed CNN architecture, tailored to diverse image conditions, integrates into the </a:t>
            </a:r>
            <a:r>
              <a:rPr lang="en-US" sz="1400" dirty="0" err="1">
                <a:latin typeface="Times New Roman" panose="02020603050405020304" pitchFamily="18" charset="0"/>
                <a:cs typeface="Times New Roman" panose="02020603050405020304" pitchFamily="18" charset="0"/>
              </a:rPr>
              <a:t>KrishiDisha</a:t>
            </a:r>
            <a:r>
              <a:rPr lang="en-US" sz="1400" dirty="0">
                <a:latin typeface="Times New Roman" panose="02020603050405020304" pitchFamily="18" charset="0"/>
                <a:cs typeface="Times New Roman" panose="02020603050405020304" pitchFamily="18" charset="0"/>
              </a:rPr>
              <a:t> platform to provide rapid and accurate disease diagnosis.</a:t>
            </a:r>
            <a:endParaRPr lang="en-US" sz="2800" dirty="0"/>
          </a:p>
        </p:txBody>
      </p:sp>
      <p:pic>
        <p:nvPicPr>
          <p:cNvPr id="33" name="Picture 32" descr="A person holding a phone&#10;&#10;Description automatically generated">
            <a:extLst>
              <a:ext uri="{FF2B5EF4-FFF2-40B4-BE49-F238E27FC236}">
                <a16:creationId xmlns:a16="http://schemas.microsoft.com/office/drawing/2014/main" id="{0D1B0FCD-F392-D965-5D52-355199664FF3}"/>
              </a:ext>
            </a:extLst>
          </p:cNvPr>
          <p:cNvPicPr>
            <a:picLocks noChangeAspect="1"/>
          </p:cNvPicPr>
          <p:nvPr/>
        </p:nvPicPr>
        <p:blipFill>
          <a:blip r:embed="rId3">
            <a:extLst>
              <a:ext uri="{28A0092B-C50C-407E-A947-70E740481C1C}">
                <a14:useLocalDpi xmlns:a14="http://schemas.microsoft.com/office/drawing/2010/main" val="0"/>
              </a:ext>
            </a:extLst>
          </a:blip>
          <a:srcRect l="16425" t="6309" r="14502" b="2410"/>
          <a:stretch>
            <a:fillRect/>
          </a:stretch>
        </p:blipFill>
        <p:spPr>
          <a:xfrm>
            <a:off x="7568408" y="775433"/>
            <a:ext cx="4106600" cy="54596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29223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6934C-B2F4-AA1C-C599-5197A62AAA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7CF944-5E06-6C1B-ACA0-BB4D4010A5C4}"/>
              </a:ext>
            </a:extLst>
          </p:cNvPr>
          <p:cNvSpPr/>
          <p:nvPr/>
        </p:nvSpPr>
        <p:spPr>
          <a:xfrm>
            <a:off x="9734591" y="157316"/>
            <a:ext cx="2319757" cy="656794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pic>
        <p:nvPicPr>
          <p:cNvPr id="21" name="Picture 20" descr="A person and person in a field&#10;&#10;Description automatically generated">
            <a:extLst>
              <a:ext uri="{FF2B5EF4-FFF2-40B4-BE49-F238E27FC236}">
                <a16:creationId xmlns:a16="http://schemas.microsoft.com/office/drawing/2014/main" id="{A9F95930-D29B-6C11-FE53-A5215C71BCB2}"/>
              </a:ext>
            </a:extLst>
          </p:cNvPr>
          <p:cNvPicPr>
            <a:picLocks noChangeAspect="1"/>
          </p:cNvPicPr>
          <p:nvPr/>
        </p:nvPicPr>
        <p:blipFill>
          <a:blip r:embed="rId3">
            <a:extLst>
              <a:ext uri="{28A0092B-C50C-407E-A947-70E740481C1C}">
                <a14:useLocalDpi xmlns:a14="http://schemas.microsoft.com/office/drawing/2010/main" val="0"/>
              </a:ext>
            </a:extLst>
          </a:blip>
          <a:srcRect l="18270" t="2877" r="40048" b="2971"/>
          <a:stretch>
            <a:fillRect/>
          </a:stretch>
        </p:blipFill>
        <p:spPr>
          <a:xfrm flipH="1">
            <a:off x="9734589" y="4025110"/>
            <a:ext cx="2303998" cy="275986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
        <p:nvSpPr>
          <p:cNvPr id="9" name="TextBox 8">
            <a:extLst>
              <a:ext uri="{FF2B5EF4-FFF2-40B4-BE49-F238E27FC236}">
                <a16:creationId xmlns:a16="http://schemas.microsoft.com/office/drawing/2014/main" id="{7987CF61-6C06-F8F7-3D09-D5E0F5F35D23}"/>
              </a:ext>
            </a:extLst>
          </p:cNvPr>
          <p:cNvSpPr txBox="1"/>
          <p:nvPr/>
        </p:nvSpPr>
        <p:spPr>
          <a:xfrm>
            <a:off x="206196" y="263456"/>
            <a:ext cx="5219827" cy="830997"/>
          </a:xfrm>
          <a:prstGeom prst="rect">
            <a:avLst/>
          </a:prstGeom>
          <a:noFill/>
        </p:spPr>
        <p:txBody>
          <a:bodyPr wrap="none" rtlCol="0">
            <a:spAutoFit/>
          </a:bodyPr>
          <a:lstStyle/>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Problem Definition</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23E6CA00-FED0-7308-4257-DE578E5B43C9}"/>
              </a:ext>
            </a:extLst>
          </p:cNvPr>
          <p:cNvGrpSpPr/>
          <p:nvPr/>
        </p:nvGrpSpPr>
        <p:grpSpPr>
          <a:xfrm>
            <a:off x="7388166" y="157317"/>
            <a:ext cx="4692849" cy="6567948"/>
            <a:chOff x="5410201" y="0"/>
            <a:chExt cx="4838698" cy="6858000"/>
          </a:xfrm>
          <a:blipFill>
            <a:blip r:embed="rId4"/>
            <a:stretch>
              <a:fillRect/>
            </a:stretch>
          </a:blipFill>
        </p:grpSpPr>
        <p:sp>
          <p:nvSpPr>
            <p:cNvPr id="14" name="Rectangle 13">
              <a:extLst>
                <a:ext uri="{FF2B5EF4-FFF2-40B4-BE49-F238E27FC236}">
                  <a16:creationId xmlns:a16="http://schemas.microsoft.com/office/drawing/2014/main" id="{D7560ECA-791D-C047-D14B-B9807BB6988E}"/>
                </a:ext>
              </a:extLst>
            </p:cNvPr>
            <p:cNvSpPr/>
            <p:nvPr/>
          </p:nvSpPr>
          <p:spPr>
            <a:xfrm>
              <a:off x="7829549" y="0"/>
              <a:ext cx="2419350" cy="403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E029754-9D5C-230D-2533-0F9B1828B6D4}"/>
                </a:ext>
              </a:extLst>
            </p:cNvPr>
            <p:cNvSpPr/>
            <p:nvPr/>
          </p:nvSpPr>
          <p:spPr>
            <a:xfrm>
              <a:off x="5410201" y="2171700"/>
              <a:ext cx="2419350" cy="4686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621FB8FB-7F27-E830-1083-2C6702411AF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919509" y="1621657"/>
            <a:ext cx="1265958" cy="1137384"/>
          </a:xfrm>
          <a:prstGeom prst="rect">
            <a:avLst/>
          </a:prstGeom>
        </p:spPr>
      </p:pic>
      <p:sp>
        <p:nvSpPr>
          <p:cNvPr id="27" name="Rectangle 26">
            <a:extLst>
              <a:ext uri="{FF2B5EF4-FFF2-40B4-BE49-F238E27FC236}">
                <a16:creationId xmlns:a16="http://schemas.microsoft.com/office/drawing/2014/main" id="{BE2D1347-9E97-335E-4C47-DC69C2D43772}"/>
              </a:ext>
            </a:extLst>
          </p:cNvPr>
          <p:cNvSpPr/>
          <p:nvPr/>
        </p:nvSpPr>
        <p:spPr>
          <a:xfrm>
            <a:off x="137652" y="157316"/>
            <a:ext cx="11916696" cy="656794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plant, leaf, tree&#10;&#10;Description automatically generated">
            <a:extLst>
              <a:ext uri="{FF2B5EF4-FFF2-40B4-BE49-F238E27FC236}">
                <a16:creationId xmlns:a16="http://schemas.microsoft.com/office/drawing/2014/main" id="{B887AF9A-48E5-1082-7F09-C2C02B7C90AF}"/>
              </a:ext>
            </a:extLst>
          </p:cNvPr>
          <p:cNvPicPr>
            <a:picLocks noChangeAspect="1"/>
          </p:cNvPicPr>
          <p:nvPr/>
        </p:nvPicPr>
        <p:blipFill>
          <a:blip r:embed="rId6">
            <a:duotone>
              <a:schemeClr val="accent6">
                <a:shade val="45000"/>
                <a:satMod val="135000"/>
              </a:schemeClr>
              <a:prstClr val="white"/>
            </a:duotone>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val="0"/>
              </a:ext>
            </a:extLst>
          </a:blip>
          <a:stretch>
            <a:fillRect/>
          </a:stretch>
        </p:blipFill>
        <p:spPr>
          <a:xfrm rot="9860814" flipV="1">
            <a:off x="-2492566" y="1246015"/>
            <a:ext cx="4925722" cy="5468849"/>
          </a:xfrm>
          <a:prstGeom prst="rect">
            <a:avLst/>
          </a:prstGeom>
        </p:spPr>
      </p:pic>
      <p:sp>
        <p:nvSpPr>
          <p:cNvPr id="24" name="TextBox 23">
            <a:extLst>
              <a:ext uri="{FF2B5EF4-FFF2-40B4-BE49-F238E27FC236}">
                <a16:creationId xmlns:a16="http://schemas.microsoft.com/office/drawing/2014/main" id="{C40077FC-6629-75A8-9AEC-5E3A42C447DF}"/>
              </a:ext>
            </a:extLst>
          </p:cNvPr>
          <p:cNvSpPr txBox="1"/>
          <p:nvPr/>
        </p:nvSpPr>
        <p:spPr>
          <a:xfrm>
            <a:off x="765285" y="1156778"/>
            <a:ext cx="8703179" cy="923330"/>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Lack of Personalized Recommendations:</a:t>
            </a:r>
            <a:r>
              <a:rPr lang="en-US" sz="1800" dirty="0">
                <a:latin typeface="Times New Roman" panose="02020603050405020304" pitchFamily="18" charset="0"/>
                <a:cs typeface="Times New Roman" panose="02020603050405020304" pitchFamily="18" charset="0"/>
              </a:rPr>
              <a:t> Generic advice fails to account for specific factors like soil type, climate, and nutrient levels, leading to inefficiencies and reduced yields.</a:t>
            </a:r>
          </a:p>
        </p:txBody>
      </p:sp>
      <p:sp>
        <p:nvSpPr>
          <p:cNvPr id="26" name="TextBox 25">
            <a:extLst>
              <a:ext uri="{FF2B5EF4-FFF2-40B4-BE49-F238E27FC236}">
                <a16:creationId xmlns:a16="http://schemas.microsoft.com/office/drawing/2014/main" id="{83FE6D74-58AC-BF3F-225B-138922038BCA}"/>
              </a:ext>
            </a:extLst>
          </p:cNvPr>
          <p:cNvSpPr txBox="1"/>
          <p:nvPr/>
        </p:nvSpPr>
        <p:spPr>
          <a:xfrm>
            <a:off x="1068365" y="2137490"/>
            <a:ext cx="6127556" cy="923330"/>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Delayed Disease Identification:</a:t>
            </a:r>
            <a:r>
              <a:rPr lang="en-US" sz="1800" dirty="0">
                <a:latin typeface="Times New Roman" panose="02020603050405020304" pitchFamily="18" charset="0"/>
                <a:cs typeface="Times New Roman" panose="02020603050405020304" pitchFamily="18" charset="0"/>
              </a:rPr>
              <a:t> Manual inspection results in slow detection, allowing diseases to spread and cause significant crop losses.</a:t>
            </a:r>
          </a:p>
        </p:txBody>
      </p:sp>
      <p:sp>
        <p:nvSpPr>
          <p:cNvPr id="29" name="TextBox 28">
            <a:extLst>
              <a:ext uri="{FF2B5EF4-FFF2-40B4-BE49-F238E27FC236}">
                <a16:creationId xmlns:a16="http://schemas.microsoft.com/office/drawing/2014/main" id="{5ABC6CAF-7FEF-58A5-682A-C4B97ED7D2ED}"/>
              </a:ext>
            </a:extLst>
          </p:cNvPr>
          <p:cNvSpPr txBox="1"/>
          <p:nvPr/>
        </p:nvSpPr>
        <p:spPr>
          <a:xfrm>
            <a:off x="1445295" y="3274654"/>
            <a:ext cx="5670458" cy="923330"/>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Inaccurate Yield Prediction:</a:t>
            </a:r>
            <a:r>
              <a:rPr lang="en-US" sz="1800" dirty="0">
                <a:latin typeface="Times New Roman" panose="02020603050405020304" pitchFamily="18" charset="0"/>
                <a:cs typeface="Times New Roman" panose="02020603050405020304" pitchFamily="18" charset="0"/>
              </a:rPr>
              <a:t> Without precise forecasting tools, farmers struggle to efficiently allocate resources and plan crop cycles.</a:t>
            </a:r>
          </a:p>
        </p:txBody>
      </p:sp>
      <p:sp>
        <p:nvSpPr>
          <p:cNvPr id="31" name="TextBox 30">
            <a:extLst>
              <a:ext uri="{FF2B5EF4-FFF2-40B4-BE49-F238E27FC236}">
                <a16:creationId xmlns:a16="http://schemas.microsoft.com/office/drawing/2014/main" id="{8D10B884-9FE2-5F97-E129-14A95C98B812}"/>
              </a:ext>
            </a:extLst>
          </p:cNvPr>
          <p:cNvSpPr txBox="1"/>
          <p:nvPr/>
        </p:nvSpPr>
        <p:spPr>
          <a:xfrm>
            <a:off x="1034072" y="4411819"/>
            <a:ext cx="6076885" cy="923330"/>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Limited Access to Technology:</a:t>
            </a:r>
            <a:r>
              <a:rPr lang="en-US" sz="1800" dirty="0">
                <a:latin typeface="Times New Roman" panose="02020603050405020304" pitchFamily="18" charset="0"/>
                <a:cs typeface="Times New Roman" panose="02020603050405020304" pitchFamily="18" charset="0"/>
              </a:rPr>
              <a:t> Farmers in remote areas often lack access to modern agricultural tools, expert guidance, and timely insights.</a:t>
            </a:r>
          </a:p>
        </p:txBody>
      </p:sp>
      <p:sp>
        <p:nvSpPr>
          <p:cNvPr id="33" name="TextBox 32">
            <a:extLst>
              <a:ext uri="{FF2B5EF4-FFF2-40B4-BE49-F238E27FC236}">
                <a16:creationId xmlns:a16="http://schemas.microsoft.com/office/drawing/2014/main" id="{F7C9C685-157D-C1A9-D6C0-CE8919960108}"/>
              </a:ext>
            </a:extLst>
          </p:cNvPr>
          <p:cNvSpPr txBox="1"/>
          <p:nvPr/>
        </p:nvSpPr>
        <p:spPr>
          <a:xfrm>
            <a:off x="926840" y="5443638"/>
            <a:ext cx="6184117" cy="1200329"/>
          </a:xfrm>
          <a:prstGeom prst="rect">
            <a:avLst/>
          </a:prstGeom>
          <a:noFill/>
        </p:spPr>
        <p:txBody>
          <a:bodyPr wrap="square">
            <a:spAutoFit/>
          </a:bodyPr>
          <a:lstStyle/>
          <a:p>
            <a:pPr algn="just"/>
            <a:r>
              <a:rPr lang="en-US" sz="1800" b="1" dirty="0" err="1">
                <a:latin typeface="Times New Roman" panose="02020603050405020304" pitchFamily="18" charset="0"/>
                <a:cs typeface="Times New Roman" panose="02020603050405020304" pitchFamily="18" charset="0"/>
              </a:rPr>
              <a:t>KrishiDisha's</a:t>
            </a:r>
            <a:r>
              <a:rPr lang="en-US" sz="1800" b="1" dirty="0">
                <a:latin typeface="Times New Roman" panose="02020603050405020304" pitchFamily="18" charset="0"/>
                <a:cs typeface="Times New Roman" panose="02020603050405020304" pitchFamily="18" charset="0"/>
              </a:rPr>
              <a:t> Integrated Solution: </a:t>
            </a:r>
            <a:r>
              <a:rPr lang="en-US" sz="1800" dirty="0">
                <a:latin typeface="Times New Roman" panose="02020603050405020304" pitchFamily="18" charset="0"/>
                <a:cs typeface="Times New Roman" panose="02020603050405020304" pitchFamily="18" charset="0"/>
              </a:rPr>
              <a:t>Combines AI and ML to provide personalized recommendations, real-time disease detection, and accurate yield prediction, empowering farmers for sustainable and profitable farming.</a:t>
            </a:r>
          </a:p>
        </p:txBody>
      </p:sp>
    </p:spTree>
    <p:extLst>
      <p:ext uri="{BB962C8B-B14F-4D97-AF65-F5344CB8AC3E}">
        <p14:creationId xmlns:p14="http://schemas.microsoft.com/office/powerpoint/2010/main" val="367178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E8362-97E6-6963-FF87-19E3D2AD438D}"/>
            </a:ext>
          </a:extLst>
        </p:cNvPr>
        <p:cNvGrpSpPr/>
        <p:nvPr/>
      </p:nvGrpSpPr>
      <p:grpSpPr>
        <a:xfrm>
          <a:off x="0" y="0"/>
          <a:ext cx="0" cy="0"/>
          <a:chOff x="0" y="0"/>
          <a:chExt cx="0" cy="0"/>
        </a:xfrm>
      </p:grpSpPr>
      <p:pic>
        <p:nvPicPr>
          <p:cNvPr id="81" name="Picture 80" descr="A green laurel wreath with black background&#10;&#10;Description automatically generated with low confidence">
            <a:extLst>
              <a:ext uri="{FF2B5EF4-FFF2-40B4-BE49-F238E27FC236}">
                <a16:creationId xmlns:a16="http://schemas.microsoft.com/office/drawing/2014/main" id="{018EE930-D632-1844-7934-A11BFE139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414" y="970000"/>
            <a:ext cx="6293630" cy="5659542"/>
          </a:xfrm>
          <a:prstGeom prst="rect">
            <a:avLst/>
          </a:prstGeom>
        </p:spPr>
      </p:pic>
      <p:pic>
        <p:nvPicPr>
          <p:cNvPr id="82" name="Picture 81" descr="A green laurel wreath with black background&#10;&#10;Description automatically generated with low confidence">
            <a:extLst>
              <a:ext uri="{FF2B5EF4-FFF2-40B4-BE49-F238E27FC236}">
                <a16:creationId xmlns:a16="http://schemas.microsoft.com/office/drawing/2014/main" id="{6590A741-D962-F1E8-0B35-E87F21C81B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2916508" y="955459"/>
            <a:ext cx="6293630" cy="5659542"/>
          </a:xfrm>
          <a:prstGeom prst="rect">
            <a:avLst/>
          </a:prstGeom>
        </p:spPr>
      </p:pic>
      <p:sp>
        <p:nvSpPr>
          <p:cNvPr id="27" name="Rectangle 26">
            <a:extLst>
              <a:ext uri="{FF2B5EF4-FFF2-40B4-BE49-F238E27FC236}">
                <a16:creationId xmlns:a16="http://schemas.microsoft.com/office/drawing/2014/main" id="{411B0A1A-7877-38FA-530A-54B43FB877E6}"/>
              </a:ext>
            </a:extLst>
          </p:cNvPr>
          <p:cNvSpPr/>
          <p:nvPr/>
        </p:nvSpPr>
        <p:spPr>
          <a:xfrm>
            <a:off x="0" y="0"/>
            <a:ext cx="12192000" cy="685799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0D7B5019-D105-F0AF-1130-E9588A50807C}"/>
              </a:ext>
            </a:extLst>
          </p:cNvPr>
          <p:cNvGrpSpPr/>
          <p:nvPr/>
        </p:nvGrpSpPr>
        <p:grpSpPr>
          <a:xfrm>
            <a:off x="1285349" y="1159532"/>
            <a:ext cx="4102113" cy="5426463"/>
            <a:chOff x="6612388" y="560234"/>
            <a:chExt cx="4910824" cy="5737531"/>
          </a:xfrm>
        </p:grpSpPr>
        <p:sp>
          <p:nvSpPr>
            <p:cNvPr id="12" name="Rectangle: Rounded Corners 11">
              <a:extLst>
                <a:ext uri="{FF2B5EF4-FFF2-40B4-BE49-F238E27FC236}">
                  <a16:creationId xmlns:a16="http://schemas.microsoft.com/office/drawing/2014/main" id="{CD4E941C-03DD-3BA8-7E3E-49E68D4B516C}"/>
                </a:ext>
              </a:extLst>
            </p:cNvPr>
            <p:cNvSpPr/>
            <p:nvPr/>
          </p:nvSpPr>
          <p:spPr>
            <a:xfrm>
              <a:off x="6612388" y="560234"/>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2242DF35-27DC-F45D-736D-7022CDDB7F34}"/>
                </a:ext>
              </a:extLst>
            </p:cNvPr>
            <p:cNvSpPr/>
            <p:nvPr/>
          </p:nvSpPr>
          <p:spPr>
            <a:xfrm>
              <a:off x="6612388" y="2088467"/>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9F621BDE-707A-B8A2-ED5C-B9EE878B45BD}"/>
                </a:ext>
              </a:extLst>
            </p:cNvPr>
            <p:cNvSpPr/>
            <p:nvPr/>
          </p:nvSpPr>
          <p:spPr>
            <a:xfrm>
              <a:off x="6612388" y="3616700"/>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4AD52AE1-6083-D637-5A8F-8DBFA1003E54}"/>
                </a:ext>
              </a:extLst>
            </p:cNvPr>
            <p:cNvSpPr/>
            <p:nvPr/>
          </p:nvSpPr>
          <p:spPr>
            <a:xfrm>
              <a:off x="6612388" y="5144933"/>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0D7B5019-D105-F0AF-1130-E9588A50807C}"/>
              </a:ext>
            </a:extLst>
          </p:cNvPr>
          <p:cNvGrpSpPr/>
          <p:nvPr/>
        </p:nvGrpSpPr>
        <p:grpSpPr>
          <a:xfrm>
            <a:off x="6754931" y="1159532"/>
            <a:ext cx="4173908" cy="5426463"/>
            <a:chOff x="6612388" y="560234"/>
            <a:chExt cx="4937069" cy="5737531"/>
          </a:xfrm>
        </p:grpSpPr>
        <p:grpSp>
          <p:nvGrpSpPr>
            <p:cNvPr id="29" name="Group 28">
              <a:extLst>
                <a:ext uri="{FF2B5EF4-FFF2-40B4-BE49-F238E27FC236}">
                  <a16:creationId xmlns:a16="http://schemas.microsoft.com/office/drawing/2014/main" id="{A2DBD62C-4006-296C-4D6F-6D45F3368065}"/>
                </a:ext>
              </a:extLst>
            </p:cNvPr>
            <p:cNvGrpSpPr/>
            <p:nvPr/>
          </p:nvGrpSpPr>
          <p:grpSpPr>
            <a:xfrm>
              <a:off x="6612388" y="560234"/>
              <a:ext cx="4937069" cy="1152832"/>
              <a:chOff x="6612388" y="560234"/>
              <a:chExt cx="4937069" cy="1152832"/>
            </a:xfrm>
          </p:grpSpPr>
          <p:sp>
            <p:nvSpPr>
              <p:cNvPr id="44" name="Rectangle: Rounded Corners 43">
                <a:extLst>
                  <a:ext uri="{FF2B5EF4-FFF2-40B4-BE49-F238E27FC236}">
                    <a16:creationId xmlns:a16="http://schemas.microsoft.com/office/drawing/2014/main" id="{CD4E941C-03DD-3BA8-7E3E-49E68D4B516C}"/>
                  </a:ext>
                </a:extLst>
              </p:cNvPr>
              <p:cNvSpPr/>
              <p:nvPr/>
            </p:nvSpPr>
            <p:spPr>
              <a:xfrm>
                <a:off x="6612388" y="560234"/>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6B3F19F2-52EF-EE66-D4AC-C334A6346BCD}"/>
                  </a:ext>
                </a:extLst>
              </p:cNvPr>
              <p:cNvSpPr txBox="1"/>
              <p:nvPr/>
            </p:nvSpPr>
            <p:spPr>
              <a:xfrm>
                <a:off x="7076198" y="969367"/>
                <a:ext cx="4473259" cy="553213"/>
              </a:xfrm>
              <a:prstGeom prst="rect">
                <a:avLst/>
              </a:prstGeom>
              <a:noFill/>
            </p:spPr>
            <p:txBody>
              <a:bodyPr wrap="square">
                <a:spAutoFit/>
              </a:bodyPr>
              <a:lstStyle/>
              <a:p>
                <a:pPr>
                  <a:spcBef>
                    <a:spcPts val="600"/>
                  </a:spcBef>
                </a:pPr>
                <a:r>
                  <a:rPr lang="en-US" sz="1400" dirty="0">
                    <a:latin typeface="Times New Roman" panose="02020603050405020304" pitchFamily="18" charset="0"/>
                    <a:cs typeface="Times New Roman" panose="02020603050405020304" pitchFamily="18" charset="0"/>
                  </a:rPr>
                  <a:t>Employ CNNs to detect crop diseases through image analysis for prompt intervention.</a:t>
                </a:r>
                <a:endParaRPr lang="en-I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sp>
          <p:nvSpPr>
            <p:cNvPr id="42" name="Rectangle: Rounded Corners 41">
              <a:extLst>
                <a:ext uri="{FF2B5EF4-FFF2-40B4-BE49-F238E27FC236}">
                  <a16:creationId xmlns:a16="http://schemas.microsoft.com/office/drawing/2014/main" id="{2242DF35-27DC-F45D-736D-7022CDDB7F34}"/>
                </a:ext>
              </a:extLst>
            </p:cNvPr>
            <p:cNvSpPr/>
            <p:nvPr/>
          </p:nvSpPr>
          <p:spPr>
            <a:xfrm>
              <a:off x="6612388" y="2088467"/>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sp>
          <p:nvSpPr>
            <p:cNvPr id="40" name="Rectangle: Rounded Corners 39">
              <a:extLst>
                <a:ext uri="{FF2B5EF4-FFF2-40B4-BE49-F238E27FC236}">
                  <a16:creationId xmlns:a16="http://schemas.microsoft.com/office/drawing/2014/main" id="{9F621BDE-707A-B8A2-ED5C-B9EE878B45BD}"/>
                </a:ext>
              </a:extLst>
            </p:cNvPr>
            <p:cNvSpPr/>
            <p:nvPr/>
          </p:nvSpPr>
          <p:spPr>
            <a:xfrm>
              <a:off x="6612388" y="3616700"/>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bg1"/>
                </a:solidFill>
                <a:latin typeface="Times New Roman" panose="02020603050405020304" pitchFamily="18" charset="0"/>
                <a:cs typeface="Times New Roman" panose="02020603050405020304" pitchFamily="18" charset="0"/>
              </a:endParaRPr>
            </a:p>
          </p:txBody>
        </p:sp>
        <p:sp>
          <p:nvSpPr>
            <p:cNvPr id="38" name="Rectangle: Rounded Corners 37">
              <a:extLst>
                <a:ext uri="{FF2B5EF4-FFF2-40B4-BE49-F238E27FC236}">
                  <a16:creationId xmlns:a16="http://schemas.microsoft.com/office/drawing/2014/main" id="{4AD52AE1-6083-D637-5A8F-8DBFA1003E54}"/>
                </a:ext>
              </a:extLst>
            </p:cNvPr>
            <p:cNvSpPr/>
            <p:nvPr/>
          </p:nvSpPr>
          <p:spPr>
            <a:xfrm>
              <a:off x="6612388" y="5144933"/>
              <a:ext cx="4910824" cy="1152832"/>
            </a:xfrm>
            <a:prstGeom prst="roundRect">
              <a:avLst/>
            </a:prstGeom>
            <a:solidFill>
              <a:schemeClr val="bg1"/>
            </a:solidFill>
            <a:ln w="38100" cap="flat">
              <a:noFill/>
              <a:prstDash val="solid"/>
              <a:miter/>
            </a:ln>
            <a:effectLst>
              <a:outerShdw blurRad="1270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dirty="0">
                <a:solidFill>
                  <a:schemeClr val="bg1"/>
                </a:solidFill>
                <a:latin typeface="Times New Roman" panose="02020603050405020304" pitchFamily="18" charset="0"/>
                <a:cs typeface="Times New Roman" panose="02020603050405020304" pitchFamily="18" charset="0"/>
              </a:endParaRPr>
            </a:p>
          </p:txBody>
        </p:sp>
      </p:grpSp>
      <p:sp>
        <p:nvSpPr>
          <p:cNvPr id="50" name="TextBox 49">
            <a:extLst>
              <a:ext uri="{FF2B5EF4-FFF2-40B4-BE49-F238E27FC236}">
                <a16:creationId xmlns:a16="http://schemas.microsoft.com/office/drawing/2014/main" id="{47E672FA-0A07-3426-399C-AEC43CA441EB}"/>
              </a:ext>
            </a:extLst>
          </p:cNvPr>
          <p:cNvSpPr txBox="1"/>
          <p:nvPr/>
        </p:nvSpPr>
        <p:spPr>
          <a:xfrm>
            <a:off x="1309186" y="1152592"/>
            <a:ext cx="3980145"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Accurate Recommendations</a:t>
            </a:r>
            <a:endParaRPr lang="en-IN" dirty="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73DD35C9-CFBF-07E3-3CBC-91FE940D85E6}"/>
              </a:ext>
            </a:extLst>
          </p:cNvPr>
          <p:cNvSpPr txBox="1"/>
          <p:nvPr/>
        </p:nvSpPr>
        <p:spPr>
          <a:xfrm>
            <a:off x="1312159" y="1460696"/>
            <a:ext cx="4048491"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Utilize Random Forest to provide crop and fertilizer advice based on specific farm conditions like soil composition, temperature, humidity, and rainfall.</a:t>
            </a:r>
          </a:p>
        </p:txBody>
      </p:sp>
      <p:sp>
        <p:nvSpPr>
          <p:cNvPr id="54" name="TextBox 53">
            <a:extLst>
              <a:ext uri="{FF2B5EF4-FFF2-40B4-BE49-F238E27FC236}">
                <a16:creationId xmlns:a16="http://schemas.microsoft.com/office/drawing/2014/main" id="{926F994F-D3EA-576D-CB89-8C78AEB0295A}"/>
              </a:ext>
            </a:extLst>
          </p:cNvPr>
          <p:cNvSpPr txBox="1"/>
          <p:nvPr/>
        </p:nvSpPr>
        <p:spPr>
          <a:xfrm>
            <a:off x="6804541" y="1152591"/>
            <a:ext cx="399781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Real-Time Disease Detection</a:t>
            </a:r>
            <a:endParaRPr lang="en-US" sz="1800"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A0A432ED-6220-4CD1-20CF-4C0C08703C6C}"/>
              </a:ext>
            </a:extLst>
          </p:cNvPr>
          <p:cNvSpPr txBox="1"/>
          <p:nvPr/>
        </p:nvSpPr>
        <p:spPr>
          <a:xfrm>
            <a:off x="1309187" y="2621356"/>
            <a:ext cx="398014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Precise Yield Prediction</a:t>
            </a:r>
            <a:endParaRPr lang="en-IN" dirty="0"/>
          </a:p>
        </p:txBody>
      </p:sp>
      <p:sp>
        <p:nvSpPr>
          <p:cNvPr id="58" name="TextBox 57">
            <a:extLst>
              <a:ext uri="{FF2B5EF4-FFF2-40B4-BE49-F238E27FC236}">
                <a16:creationId xmlns:a16="http://schemas.microsoft.com/office/drawing/2014/main" id="{70685535-DE44-A955-18B6-8F207E816A27}"/>
              </a:ext>
            </a:extLst>
          </p:cNvPr>
          <p:cNvSpPr txBox="1"/>
          <p:nvPr/>
        </p:nvSpPr>
        <p:spPr>
          <a:xfrm>
            <a:off x="1389641" y="2924884"/>
            <a:ext cx="3838678"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 Use Gradient Boosting Regressor to forecast yields accurately based on environmental factors, crop type, and historical data.</a:t>
            </a:r>
          </a:p>
        </p:txBody>
      </p:sp>
      <p:sp>
        <p:nvSpPr>
          <p:cNvPr id="60" name="TextBox 59">
            <a:extLst>
              <a:ext uri="{FF2B5EF4-FFF2-40B4-BE49-F238E27FC236}">
                <a16:creationId xmlns:a16="http://schemas.microsoft.com/office/drawing/2014/main" id="{90823856-7092-26D9-D5B3-CB4C0EFF96B2}"/>
              </a:ext>
            </a:extLst>
          </p:cNvPr>
          <p:cNvSpPr txBox="1"/>
          <p:nvPr/>
        </p:nvSpPr>
        <p:spPr>
          <a:xfrm>
            <a:off x="6822215" y="2636813"/>
            <a:ext cx="398014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User-Friendly Multilingual Interface</a:t>
            </a:r>
            <a:endParaRPr lang="en-IN" dirty="0"/>
          </a:p>
        </p:txBody>
      </p:sp>
      <p:sp>
        <p:nvSpPr>
          <p:cNvPr id="62" name="TextBox 61">
            <a:extLst>
              <a:ext uri="{FF2B5EF4-FFF2-40B4-BE49-F238E27FC236}">
                <a16:creationId xmlns:a16="http://schemas.microsoft.com/office/drawing/2014/main" id="{DD3148DE-DB98-4C64-E660-FE804296BC16}"/>
              </a:ext>
            </a:extLst>
          </p:cNvPr>
          <p:cNvSpPr txBox="1"/>
          <p:nvPr/>
        </p:nvSpPr>
        <p:spPr>
          <a:xfrm>
            <a:off x="6943719" y="2987789"/>
            <a:ext cx="3858640"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Develop an intuitive platform with support for Hindi, Tamil, Telugu, Punjabi, Kannada, and English.</a:t>
            </a:r>
          </a:p>
        </p:txBody>
      </p:sp>
      <p:sp>
        <p:nvSpPr>
          <p:cNvPr id="64" name="TextBox 63">
            <a:extLst>
              <a:ext uri="{FF2B5EF4-FFF2-40B4-BE49-F238E27FC236}">
                <a16:creationId xmlns:a16="http://schemas.microsoft.com/office/drawing/2014/main" id="{D83C5C18-316E-E53F-A2EA-2ADB338B5789}"/>
              </a:ext>
            </a:extLst>
          </p:cNvPr>
          <p:cNvSpPr txBox="1"/>
          <p:nvPr/>
        </p:nvSpPr>
        <p:spPr>
          <a:xfrm>
            <a:off x="1309186" y="4068868"/>
            <a:ext cx="3986309"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Sustainable Resource Optimization</a:t>
            </a:r>
            <a:endParaRPr lang="en-IN" dirty="0"/>
          </a:p>
        </p:txBody>
      </p:sp>
      <p:sp>
        <p:nvSpPr>
          <p:cNvPr id="66" name="TextBox 65">
            <a:extLst>
              <a:ext uri="{FF2B5EF4-FFF2-40B4-BE49-F238E27FC236}">
                <a16:creationId xmlns:a16="http://schemas.microsoft.com/office/drawing/2014/main" id="{A6C416B7-72A3-1259-C484-E26515661DB0}"/>
              </a:ext>
            </a:extLst>
          </p:cNvPr>
          <p:cNvSpPr txBox="1"/>
          <p:nvPr/>
        </p:nvSpPr>
        <p:spPr>
          <a:xfrm>
            <a:off x="1383477" y="4318316"/>
            <a:ext cx="3905854"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Optimize fertilizer use and resource allocation to maximize productivity and minimize environmental impact.</a:t>
            </a:r>
          </a:p>
        </p:txBody>
      </p:sp>
      <p:sp>
        <p:nvSpPr>
          <p:cNvPr id="68" name="TextBox 67">
            <a:extLst>
              <a:ext uri="{FF2B5EF4-FFF2-40B4-BE49-F238E27FC236}">
                <a16:creationId xmlns:a16="http://schemas.microsoft.com/office/drawing/2014/main" id="{94951F48-40CB-7FA1-303F-1377713B1CF6}"/>
              </a:ext>
            </a:extLst>
          </p:cNvPr>
          <p:cNvSpPr txBox="1"/>
          <p:nvPr/>
        </p:nvSpPr>
        <p:spPr>
          <a:xfrm>
            <a:off x="6910493" y="4363845"/>
            <a:ext cx="3840595"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Combine crop recommendations, fertilizer guidance, disease detection, and yield prediction into one platform.</a:t>
            </a:r>
          </a:p>
        </p:txBody>
      </p:sp>
      <p:sp>
        <p:nvSpPr>
          <p:cNvPr id="70" name="TextBox 69">
            <a:extLst>
              <a:ext uri="{FF2B5EF4-FFF2-40B4-BE49-F238E27FC236}">
                <a16:creationId xmlns:a16="http://schemas.microsoft.com/office/drawing/2014/main" id="{DADAE796-459D-7B5D-8EF7-DA7801569574}"/>
              </a:ext>
            </a:extLst>
          </p:cNvPr>
          <p:cNvSpPr txBox="1"/>
          <p:nvPr/>
        </p:nvSpPr>
        <p:spPr>
          <a:xfrm>
            <a:off x="6822215" y="4104319"/>
            <a:ext cx="3980143"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Integrated Holistic Solution</a:t>
            </a:r>
          </a:p>
        </p:txBody>
      </p:sp>
      <p:sp>
        <p:nvSpPr>
          <p:cNvPr id="72" name="TextBox 71">
            <a:extLst>
              <a:ext uri="{FF2B5EF4-FFF2-40B4-BE49-F238E27FC236}">
                <a16:creationId xmlns:a16="http://schemas.microsoft.com/office/drawing/2014/main" id="{64573CEB-CE5C-4B34-BEDF-59F2E53C1312}"/>
              </a:ext>
            </a:extLst>
          </p:cNvPr>
          <p:cNvSpPr txBox="1"/>
          <p:nvPr/>
        </p:nvSpPr>
        <p:spPr>
          <a:xfrm>
            <a:off x="1309187" y="5495664"/>
            <a:ext cx="398014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Scalability and Adaptability</a:t>
            </a:r>
            <a:endParaRPr lang="en-IN" dirty="0"/>
          </a:p>
        </p:txBody>
      </p:sp>
      <p:sp>
        <p:nvSpPr>
          <p:cNvPr id="74" name="TextBox 73">
            <a:extLst>
              <a:ext uri="{FF2B5EF4-FFF2-40B4-BE49-F238E27FC236}">
                <a16:creationId xmlns:a16="http://schemas.microsoft.com/office/drawing/2014/main" id="{FC0E2A7A-7800-A77C-ED82-283C3938D4DE}"/>
              </a:ext>
            </a:extLst>
          </p:cNvPr>
          <p:cNvSpPr txBox="1"/>
          <p:nvPr/>
        </p:nvSpPr>
        <p:spPr>
          <a:xfrm>
            <a:off x="1383477" y="5864995"/>
            <a:ext cx="3844842" cy="523220"/>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Design the system to evolve with new crops, diseases, and datasets as agricultural needs change.</a:t>
            </a:r>
          </a:p>
        </p:txBody>
      </p:sp>
      <p:sp>
        <p:nvSpPr>
          <p:cNvPr id="76" name="TextBox 75">
            <a:extLst>
              <a:ext uri="{FF2B5EF4-FFF2-40B4-BE49-F238E27FC236}">
                <a16:creationId xmlns:a16="http://schemas.microsoft.com/office/drawing/2014/main" id="{0012AD5C-9044-C1E4-BE9B-1E22F0302851}"/>
              </a:ext>
            </a:extLst>
          </p:cNvPr>
          <p:cNvSpPr txBox="1"/>
          <p:nvPr/>
        </p:nvSpPr>
        <p:spPr>
          <a:xfrm>
            <a:off x="6822215" y="5484256"/>
            <a:ext cx="3980143"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Rural Accessibility</a:t>
            </a:r>
            <a:endParaRPr lang="en-IN" dirty="0"/>
          </a:p>
        </p:txBody>
      </p:sp>
      <p:sp>
        <p:nvSpPr>
          <p:cNvPr id="78" name="TextBox 77">
            <a:extLst>
              <a:ext uri="{FF2B5EF4-FFF2-40B4-BE49-F238E27FC236}">
                <a16:creationId xmlns:a16="http://schemas.microsoft.com/office/drawing/2014/main" id="{E246E500-3E71-C3A3-1D23-A8C6A5E5139D}"/>
              </a:ext>
            </a:extLst>
          </p:cNvPr>
          <p:cNvSpPr txBox="1"/>
          <p:nvPr/>
        </p:nvSpPr>
        <p:spPr>
          <a:xfrm>
            <a:off x="6900844" y="5835702"/>
            <a:ext cx="3850244" cy="523220"/>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Ensure mobile accessibility and real-time insights for farmers in remote areas.</a:t>
            </a:r>
          </a:p>
        </p:txBody>
      </p:sp>
      <p:sp>
        <p:nvSpPr>
          <p:cNvPr id="83" name="TextBox 82">
            <a:extLst>
              <a:ext uri="{FF2B5EF4-FFF2-40B4-BE49-F238E27FC236}">
                <a16:creationId xmlns:a16="http://schemas.microsoft.com/office/drawing/2014/main" id="{7987CF61-6C06-F8F7-3D09-D5E0F5F35D23}"/>
              </a:ext>
            </a:extLst>
          </p:cNvPr>
          <p:cNvSpPr txBox="1"/>
          <p:nvPr/>
        </p:nvSpPr>
        <p:spPr>
          <a:xfrm>
            <a:off x="4619474" y="202260"/>
            <a:ext cx="2953051" cy="830997"/>
          </a:xfrm>
          <a:prstGeom prst="rect">
            <a:avLst/>
          </a:prstGeom>
          <a:noFill/>
        </p:spPr>
        <p:txBody>
          <a:bodyPr wrap="none" rtlCol="0">
            <a:spAutoFit/>
          </a:bodyPr>
          <a:lstStyle/>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Objectives</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2" name="Picture 1" descr="A close up of a plant&#10;&#10;Description automatically generated with low confidence">
            <a:extLst>
              <a:ext uri="{FF2B5EF4-FFF2-40B4-BE49-F238E27FC236}">
                <a16:creationId xmlns:a16="http://schemas.microsoft.com/office/drawing/2014/main" id="{42490014-6D93-374A-BF01-761358A13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a:off x="44376" y="1464188"/>
            <a:ext cx="1482980" cy="3784600"/>
          </a:xfrm>
          <a:prstGeom prst="rect">
            <a:avLst/>
          </a:prstGeom>
        </p:spPr>
      </p:pic>
      <p:pic>
        <p:nvPicPr>
          <p:cNvPr id="3" name="Picture 2" descr="A close up of a plant&#10;&#10;Description automatically generated with low confidence">
            <a:extLst>
              <a:ext uri="{FF2B5EF4-FFF2-40B4-BE49-F238E27FC236}">
                <a16:creationId xmlns:a16="http://schemas.microsoft.com/office/drawing/2014/main" id="{051848B8-8BF4-9A19-659F-0263A29328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957" y="1723886"/>
            <a:ext cx="1482980" cy="3784600"/>
          </a:xfrm>
          <a:prstGeom prst="rect">
            <a:avLst/>
          </a:prstGeom>
        </p:spPr>
      </p:pic>
    </p:spTree>
    <p:extLst>
      <p:ext uri="{BB962C8B-B14F-4D97-AF65-F5344CB8AC3E}">
        <p14:creationId xmlns:p14="http://schemas.microsoft.com/office/powerpoint/2010/main" val="381972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C2274-E50C-2C30-80C6-5FE903C9AA27}"/>
            </a:ext>
          </a:extLst>
        </p:cNvPr>
        <p:cNvGrpSpPr/>
        <p:nvPr/>
      </p:nvGrpSpPr>
      <p:grpSpPr>
        <a:xfrm>
          <a:off x="0" y="0"/>
          <a:ext cx="0" cy="0"/>
          <a:chOff x="0" y="0"/>
          <a:chExt cx="0" cy="0"/>
        </a:xfrm>
      </p:grpSpPr>
      <p:pic>
        <p:nvPicPr>
          <p:cNvPr id="81" name="Picture 80" descr="A green laurel wreath with black background&#10;&#10;Description automatically generated with low confidence">
            <a:extLst>
              <a:ext uri="{FF2B5EF4-FFF2-40B4-BE49-F238E27FC236}">
                <a16:creationId xmlns:a16="http://schemas.microsoft.com/office/drawing/2014/main" id="{0ACA83AF-DE57-B425-50E9-05828C95A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414" y="970000"/>
            <a:ext cx="6293630" cy="5659542"/>
          </a:xfrm>
          <a:prstGeom prst="rect">
            <a:avLst/>
          </a:prstGeom>
        </p:spPr>
      </p:pic>
      <p:pic>
        <p:nvPicPr>
          <p:cNvPr id="82" name="Picture 81" descr="A green laurel wreath with black background&#10;&#10;Description automatically generated with low confidence">
            <a:extLst>
              <a:ext uri="{FF2B5EF4-FFF2-40B4-BE49-F238E27FC236}">
                <a16:creationId xmlns:a16="http://schemas.microsoft.com/office/drawing/2014/main" id="{E83E7778-E6AB-8D26-1654-5E9BFC696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2916508" y="955459"/>
            <a:ext cx="6293630" cy="5659542"/>
          </a:xfrm>
          <a:prstGeom prst="rect">
            <a:avLst/>
          </a:prstGeom>
        </p:spPr>
      </p:pic>
      <p:sp>
        <p:nvSpPr>
          <p:cNvPr id="27" name="Rectangle 26">
            <a:extLst>
              <a:ext uri="{FF2B5EF4-FFF2-40B4-BE49-F238E27FC236}">
                <a16:creationId xmlns:a16="http://schemas.microsoft.com/office/drawing/2014/main" id="{1B141979-D34B-A5FD-9E43-D30FB0A90B2C}"/>
              </a:ext>
            </a:extLst>
          </p:cNvPr>
          <p:cNvSpPr/>
          <p:nvPr/>
        </p:nvSpPr>
        <p:spPr>
          <a:xfrm>
            <a:off x="0" y="0"/>
            <a:ext cx="12192000" cy="685799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4D25880-B319-1D0B-08F4-EB3DC40431D6}"/>
              </a:ext>
            </a:extLst>
          </p:cNvPr>
          <p:cNvSpPr txBox="1"/>
          <p:nvPr/>
        </p:nvSpPr>
        <p:spPr>
          <a:xfrm>
            <a:off x="44375" y="13785"/>
            <a:ext cx="12191999" cy="830997"/>
          </a:xfrm>
          <a:prstGeom prst="rect">
            <a:avLst/>
          </a:prstGeom>
          <a:noFill/>
        </p:spPr>
        <p:txBody>
          <a:bodyPr wrap="square" rtlCol="0">
            <a:spAutoFit/>
          </a:bodyPr>
          <a:lstStyle/>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Tools and Technology</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E17BA5C1-B8D9-2C99-2696-6C719043476B}"/>
              </a:ext>
            </a:extLst>
          </p:cNvPr>
          <p:cNvSpPr/>
          <p:nvPr/>
        </p:nvSpPr>
        <p:spPr>
          <a:xfrm>
            <a:off x="724229" y="940917"/>
            <a:ext cx="10620000" cy="5652000"/>
          </a:xfrm>
          <a:prstGeom prst="roundRect">
            <a:avLst>
              <a:gd name="adj" fmla="val 10553"/>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n w="38100">
                <a:solidFill>
                  <a:schemeClr val="tx1"/>
                </a:solidFill>
              </a:ln>
            </a:endParaRPr>
          </a:p>
        </p:txBody>
      </p:sp>
      <p:cxnSp>
        <p:nvCxnSpPr>
          <p:cNvPr id="16" name="Straight Connector 15">
            <a:extLst>
              <a:ext uri="{FF2B5EF4-FFF2-40B4-BE49-F238E27FC236}">
                <a16:creationId xmlns:a16="http://schemas.microsoft.com/office/drawing/2014/main" id="{BEC06F0A-65C4-180A-3E34-1BE781693D51}"/>
              </a:ext>
            </a:extLst>
          </p:cNvPr>
          <p:cNvCxnSpPr>
            <a:cxnSpLocks/>
          </p:cNvCxnSpPr>
          <p:nvPr/>
        </p:nvCxnSpPr>
        <p:spPr>
          <a:xfrm>
            <a:off x="3551084" y="1366684"/>
            <a:ext cx="0" cy="3507923"/>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close up of a plant&#10;&#10;Description automatically generated with low confidence">
            <a:extLst>
              <a:ext uri="{FF2B5EF4-FFF2-40B4-BE49-F238E27FC236}">
                <a16:creationId xmlns:a16="http://schemas.microsoft.com/office/drawing/2014/main" id="{BADAC7A4-252F-5A01-F81C-0B23071F22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V="1">
            <a:off x="10899282" y="1745552"/>
            <a:ext cx="1276203" cy="3445190"/>
          </a:xfrm>
          <a:prstGeom prst="rect">
            <a:avLst/>
          </a:prstGeom>
        </p:spPr>
      </p:pic>
      <p:pic>
        <p:nvPicPr>
          <p:cNvPr id="2" name="Picture 1" descr="A close up of a plant&#10;&#10;Description automatically generated with low confidence">
            <a:extLst>
              <a:ext uri="{FF2B5EF4-FFF2-40B4-BE49-F238E27FC236}">
                <a16:creationId xmlns:a16="http://schemas.microsoft.com/office/drawing/2014/main" id="{C5FA2157-A922-13FC-5253-B608E03A41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a:off x="1914" y="1745551"/>
            <a:ext cx="1167517" cy="3129055"/>
          </a:xfrm>
          <a:prstGeom prst="rect">
            <a:avLst/>
          </a:prstGeom>
        </p:spPr>
      </p:pic>
      <p:cxnSp>
        <p:nvCxnSpPr>
          <p:cNvPr id="20" name="Straight Connector 19">
            <a:extLst>
              <a:ext uri="{FF2B5EF4-FFF2-40B4-BE49-F238E27FC236}">
                <a16:creationId xmlns:a16="http://schemas.microsoft.com/office/drawing/2014/main" id="{9CA4147E-9203-FECE-8AB1-6E5756B573B5}"/>
              </a:ext>
            </a:extLst>
          </p:cNvPr>
          <p:cNvCxnSpPr>
            <a:cxnSpLocks/>
          </p:cNvCxnSpPr>
          <p:nvPr/>
        </p:nvCxnSpPr>
        <p:spPr>
          <a:xfrm>
            <a:off x="6341924" y="1366684"/>
            <a:ext cx="0" cy="467317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6DE9146-E371-238D-ABBC-B7CC950E755F}"/>
              </a:ext>
            </a:extLst>
          </p:cNvPr>
          <p:cNvSpPr txBox="1"/>
          <p:nvPr/>
        </p:nvSpPr>
        <p:spPr>
          <a:xfrm>
            <a:off x="951860" y="1402758"/>
            <a:ext cx="2673112" cy="369332"/>
          </a:xfrm>
          <a:prstGeom prst="rect">
            <a:avLst/>
          </a:prstGeom>
          <a:noFill/>
          <a:ln>
            <a:noFill/>
          </a:ln>
        </p:spPr>
        <p:txBody>
          <a:bodyPr wrap="square">
            <a:spAutoFit/>
          </a:bodyPr>
          <a:lstStyle/>
          <a:p>
            <a:pPr algn="ctr"/>
            <a:r>
              <a:rPr lang="en-IN" sz="1800" b="1" dirty="0">
                <a:latin typeface="Times New Roman" panose="02020603050405020304" pitchFamily="18" charset="0"/>
                <a:cs typeface="Times New Roman" panose="02020603050405020304" pitchFamily="18" charset="0"/>
              </a:rPr>
              <a:t>Front-End Technologies</a:t>
            </a:r>
            <a:endParaRPr lang="en-IN" dirty="0"/>
          </a:p>
        </p:txBody>
      </p:sp>
      <p:sp>
        <p:nvSpPr>
          <p:cNvPr id="24" name="TextBox 23">
            <a:extLst>
              <a:ext uri="{FF2B5EF4-FFF2-40B4-BE49-F238E27FC236}">
                <a16:creationId xmlns:a16="http://schemas.microsoft.com/office/drawing/2014/main" id="{A5367F2A-8303-FC5C-CFF6-2B48BAB1A828}"/>
              </a:ext>
            </a:extLst>
          </p:cNvPr>
          <p:cNvSpPr txBox="1"/>
          <p:nvPr/>
        </p:nvSpPr>
        <p:spPr>
          <a:xfrm>
            <a:off x="1096709" y="1810279"/>
            <a:ext cx="2226036" cy="2462213"/>
          </a:xfrm>
          <a:prstGeom prst="rect">
            <a:avLst/>
          </a:prstGeom>
          <a:noFill/>
          <a:ln>
            <a:noFill/>
          </a:ln>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HTML:</a:t>
            </a:r>
            <a:r>
              <a:rPr lang="en-IN" sz="1400" dirty="0">
                <a:latin typeface="Times New Roman" panose="02020603050405020304" pitchFamily="18" charset="0"/>
                <a:cs typeface="Times New Roman" panose="02020603050405020304" pitchFamily="18" charset="0"/>
              </a:rPr>
              <a:t> Structures web pages for farmer and admin interactions (forms, tables, text).</a:t>
            </a:r>
          </a:p>
          <a:p>
            <a:pPr algn="just"/>
            <a:r>
              <a:rPr lang="en-IN" sz="1400" b="1" dirty="0">
                <a:latin typeface="Times New Roman" panose="02020603050405020304" pitchFamily="18" charset="0"/>
                <a:cs typeface="Times New Roman" panose="02020603050405020304" pitchFamily="18" charset="0"/>
              </a:rPr>
              <a:t>CSS:</a:t>
            </a:r>
            <a:r>
              <a:rPr lang="en-IN" sz="1400" dirty="0">
                <a:latin typeface="Times New Roman" panose="02020603050405020304" pitchFamily="18" charset="0"/>
                <a:cs typeface="Times New Roman" panose="02020603050405020304" pitchFamily="18" charset="0"/>
              </a:rPr>
              <a:t> Styles pages for an attractive, responsive UI across devices.</a:t>
            </a:r>
          </a:p>
          <a:p>
            <a:pPr algn="just"/>
            <a:r>
              <a:rPr lang="en-IN" sz="1400" b="1" dirty="0">
                <a:latin typeface="Times New Roman" panose="02020603050405020304" pitchFamily="18" charset="0"/>
                <a:cs typeface="Times New Roman" panose="02020603050405020304" pitchFamily="18" charset="0"/>
              </a:rPr>
              <a:t>JavaScript:</a:t>
            </a:r>
            <a:r>
              <a:rPr lang="en-IN" sz="1400" dirty="0">
                <a:latin typeface="Times New Roman" panose="02020603050405020304" pitchFamily="18" charset="0"/>
                <a:cs typeface="Times New Roman" panose="02020603050405020304" pitchFamily="18" charset="0"/>
              </a:rPr>
              <a:t> Adds dynamic functionality for user interactions and form validation</a:t>
            </a:r>
            <a:endParaRPr lang="en-IN" sz="1400" dirty="0"/>
          </a:p>
        </p:txBody>
      </p:sp>
      <p:sp>
        <p:nvSpPr>
          <p:cNvPr id="39" name="TextBox 38">
            <a:extLst>
              <a:ext uri="{FF2B5EF4-FFF2-40B4-BE49-F238E27FC236}">
                <a16:creationId xmlns:a16="http://schemas.microsoft.com/office/drawing/2014/main" id="{0F43740E-1E45-DB06-0E23-A706197D1D47}"/>
              </a:ext>
            </a:extLst>
          </p:cNvPr>
          <p:cNvSpPr txBox="1"/>
          <p:nvPr/>
        </p:nvSpPr>
        <p:spPr>
          <a:xfrm>
            <a:off x="3607380" y="1381500"/>
            <a:ext cx="2690170"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Back-End Technologies</a:t>
            </a:r>
            <a:endParaRPr lang="en-IN" dirty="0"/>
          </a:p>
        </p:txBody>
      </p:sp>
      <p:sp>
        <p:nvSpPr>
          <p:cNvPr id="43" name="TextBox 42">
            <a:extLst>
              <a:ext uri="{FF2B5EF4-FFF2-40B4-BE49-F238E27FC236}">
                <a16:creationId xmlns:a16="http://schemas.microsoft.com/office/drawing/2014/main" id="{36C2CD61-0433-B500-4067-02D344E29486}"/>
              </a:ext>
            </a:extLst>
          </p:cNvPr>
          <p:cNvSpPr txBox="1"/>
          <p:nvPr/>
        </p:nvSpPr>
        <p:spPr>
          <a:xfrm>
            <a:off x="3735322" y="1766064"/>
            <a:ext cx="2360674" cy="3108543"/>
          </a:xfrm>
          <a:prstGeom prst="rect">
            <a:avLst/>
          </a:prstGeom>
          <a:noFill/>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Flask</a:t>
            </a:r>
            <a:r>
              <a:rPr lang="en-IN" sz="1400" dirty="0">
                <a:latin typeface="Times New Roman" panose="02020603050405020304" pitchFamily="18" charset="0"/>
                <a:cs typeface="Times New Roman" panose="02020603050405020304" pitchFamily="18" charset="0"/>
              </a:rPr>
              <a:t> Lightweight Python framework for handling API requests and integrating ML models.</a:t>
            </a:r>
          </a:p>
          <a:p>
            <a:pPr algn="just"/>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Python</a:t>
            </a:r>
            <a:r>
              <a:rPr lang="en-IN" sz="1400" dirty="0">
                <a:latin typeface="Times New Roman" panose="02020603050405020304" pitchFamily="18" charset="0"/>
                <a:cs typeface="Times New Roman" panose="02020603050405020304" pitchFamily="18" charset="0"/>
              </a:rPr>
              <a:t> Core language for back-end logic and implementing ML models (Random Forest, GBR, CNN).</a:t>
            </a:r>
          </a:p>
          <a:p>
            <a:pPr algn="just"/>
            <a:r>
              <a:rPr lang="en-IN" sz="1400" b="1" dirty="0">
                <a:latin typeface="Times New Roman" panose="02020603050405020304" pitchFamily="18" charset="0"/>
                <a:cs typeface="Times New Roman" panose="02020603050405020304" pitchFamily="18" charset="0"/>
              </a:rPr>
              <a:t>MySQL </a:t>
            </a:r>
            <a:r>
              <a:rPr lang="en-IN" sz="1400" dirty="0">
                <a:latin typeface="Times New Roman" panose="02020603050405020304" pitchFamily="18" charset="0"/>
                <a:cs typeface="Times New Roman" panose="02020603050405020304" pitchFamily="18" charset="0"/>
              </a:rPr>
              <a:t>Relational database to store farmer details, activities, and admin data. </a:t>
            </a:r>
          </a:p>
          <a:p>
            <a:pPr algn="just"/>
            <a:r>
              <a:rPr lang="en-IN" sz="1400" b="1" dirty="0" err="1">
                <a:latin typeface="Times New Roman" panose="02020603050405020304" pitchFamily="18" charset="0"/>
                <a:cs typeface="Times New Roman" panose="02020603050405020304" pitchFamily="18" charset="0"/>
              </a:rPr>
              <a:t>SQLAlchemy</a:t>
            </a:r>
            <a:r>
              <a:rPr lang="en-IN" sz="1400" dirty="0">
                <a:latin typeface="Times New Roman" panose="02020603050405020304" pitchFamily="18" charset="0"/>
                <a:cs typeface="Times New Roman" panose="02020603050405020304" pitchFamily="18" charset="0"/>
              </a:rPr>
              <a:t> Python ORM for simplified, secure database interactions.</a:t>
            </a:r>
          </a:p>
        </p:txBody>
      </p:sp>
      <p:sp>
        <p:nvSpPr>
          <p:cNvPr id="69" name="TextBox 68">
            <a:extLst>
              <a:ext uri="{FF2B5EF4-FFF2-40B4-BE49-F238E27FC236}">
                <a16:creationId xmlns:a16="http://schemas.microsoft.com/office/drawing/2014/main" id="{3D293EA7-0FF2-1C94-DE18-BC5A32C0553E}"/>
              </a:ext>
            </a:extLst>
          </p:cNvPr>
          <p:cNvSpPr txBox="1"/>
          <p:nvPr/>
        </p:nvSpPr>
        <p:spPr>
          <a:xfrm>
            <a:off x="1622066" y="4897019"/>
            <a:ext cx="3851236"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Development &amp; Deployment Tools</a:t>
            </a:r>
            <a:endParaRPr lang="en-IN" dirty="0"/>
          </a:p>
        </p:txBody>
      </p:sp>
      <p:sp>
        <p:nvSpPr>
          <p:cNvPr id="73" name="TextBox 72">
            <a:extLst>
              <a:ext uri="{FF2B5EF4-FFF2-40B4-BE49-F238E27FC236}">
                <a16:creationId xmlns:a16="http://schemas.microsoft.com/office/drawing/2014/main" id="{DEDCBEC0-31BE-BC92-91C1-65B9B84FE065}"/>
              </a:ext>
            </a:extLst>
          </p:cNvPr>
          <p:cNvSpPr txBox="1"/>
          <p:nvPr/>
        </p:nvSpPr>
        <p:spPr>
          <a:xfrm>
            <a:off x="1590306" y="5342695"/>
            <a:ext cx="4119387" cy="954107"/>
          </a:xfrm>
          <a:prstGeom prst="rect">
            <a:avLst/>
          </a:prstGeom>
          <a:noFill/>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VS Code:</a:t>
            </a:r>
            <a:r>
              <a:rPr lang="en-IN" sz="1400" dirty="0">
                <a:latin typeface="Times New Roman" panose="02020603050405020304" pitchFamily="18" charset="0"/>
                <a:cs typeface="Times New Roman" panose="02020603050405020304" pitchFamily="18" charset="0"/>
              </a:rPr>
              <a:t> IDE for coding in Python, HTML, CSS, and JavaScript with integrated terminal and Git support. </a:t>
            </a:r>
            <a:r>
              <a:rPr lang="en-IN" sz="1400" b="1" dirty="0">
                <a:latin typeface="Times New Roman" panose="02020603050405020304" pitchFamily="18" charset="0"/>
                <a:cs typeface="Times New Roman" panose="02020603050405020304" pitchFamily="18" charset="0"/>
              </a:rPr>
              <a:t>Flask App Deployment </a:t>
            </a:r>
            <a:r>
              <a:rPr lang="en-IN" sz="1400" dirty="0">
                <a:latin typeface="Times New Roman" panose="02020603050405020304" pitchFamily="18" charset="0"/>
                <a:cs typeface="Times New Roman" panose="02020603050405020304" pitchFamily="18" charset="0"/>
              </a:rPr>
              <a:t>Deployed locally or on cloud platforms (AWS, Heroku) for public access.</a:t>
            </a:r>
          </a:p>
        </p:txBody>
      </p:sp>
      <p:sp>
        <p:nvSpPr>
          <p:cNvPr id="47" name="TextBox 46">
            <a:extLst>
              <a:ext uri="{FF2B5EF4-FFF2-40B4-BE49-F238E27FC236}">
                <a16:creationId xmlns:a16="http://schemas.microsoft.com/office/drawing/2014/main" id="{F7E6D929-8DDE-2352-7E9B-193298DD4A9F}"/>
              </a:ext>
            </a:extLst>
          </p:cNvPr>
          <p:cNvSpPr txBox="1"/>
          <p:nvPr/>
        </p:nvSpPr>
        <p:spPr>
          <a:xfrm>
            <a:off x="6353846" y="1396042"/>
            <a:ext cx="3369120"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Machine Learning Tools</a:t>
            </a:r>
            <a:endParaRPr lang="en-IN" dirty="0"/>
          </a:p>
        </p:txBody>
      </p:sp>
      <p:sp>
        <p:nvSpPr>
          <p:cNvPr id="49" name="TextBox 48">
            <a:extLst>
              <a:ext uri="{FF2B5EF4-FFF2-40B4-BE49-F238E27FC236}">
                <a16:creationId xmlns:a16="http://schemas.microsoft.com/office/drawing/2014/main" id="{5510EF75-EA11-103C-000B-BD8EF2F6E9ED}"/>
              </a:ext>
            </a:extLst>
          </p:cNvPr>
          <p:cNvSpPr txBox="1"/>
          <p:nvPr/>
        </p:nvSpPr>
        <p:spPr>
          <a:xfrm>
            <a:off x="6486775" y="1792445"/>
            <a:ext cx="4365076" cy="1815882"/>
          </a:xfrm>
          <a:prstGeom prst="rect">
            <a:avLst/>
          </a:prstGeom>
          <a:noFill/>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Scikit-Learn:</a:t>
            </a:r>
            <a:r>
              <a:rPr lang="en-IN" sz="1400" dirty="0">
                <a:latin typeface="Times New Roman" panose="02020603050405020304" pitchFamily="18" charset="0"/>
                <a:cs typeface="Times New Roman" panose="02020603050405020304" pitchFamily="18" charset="0"/>
              </a:rPr>
              <a:t> Builds ML models for crop and fertilizer recommendations. </a:t>
            </a:r>
          </a:p>
          <a:p>
            <a:pPr algn="just"/>
            <a:r>
              <a:rPr lang="en-IN" sz="1400" b="1" dirty="0">
                <a:latin typeface="Times New Roman" panose="02020603050405020304" pitchFamily="18" charset="0"/>
                <a:cs typeface="Times New Roman" panose="02020603050405020304" pitchFamily="18" charset="0"/>
              </a:rPr>
              <a:t>TensorFlow/</a:t>
            </a:r>
            <a:r>
              <a:rPr lang="en-IN" sz="1400" b="1" dirty="0" err="1">
                <a:latin typeface="Times New Roman" panose="02020603050405020304" pitchFamily="18" charset="0"/>
                <a:cs typeface="Times New Roman" panose="02020603050405020304" pitchFamily="18" charset="0"/>
              </a:rPr>
              <a:t>Keras</a:t>
            </a:r>
            <a:r>
              <a:rPr lang="en-IN" sz="1400" b="1"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Develops and trains CNN models for crop disease detection. </a:t>
            </a:r>
          </a:p>
          <a:p>
            <a:pPr algn="just"/>
            <a:r>
              <a:rPr lang="en-IN" sz="1400" b="1" dirty="0" err="1">
                <a:latin typeface="Times New Roman" panose="02020603050405020304" pitchFamily="18" charset="0"/>
                <a:cs typeface="Times New Roman" panose="02020603050405020304" pitchFamily="18" charset="0"/>
              </a:rPr>
              <a:t>LabelEncoder</a:t>
            </a:r>
            <a:r>
              <a:rPr lang="en-IN" sz="1400" b="1"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Converts categorical data into numeric format for ML.</a:t>
            </a:r>
          </a:p>
          <a:p>
            <a:pPr algn="just"/>
            <a:r>
              <a:rPr lang="en-IN" sz="1400" dirty="0">
                <a:latin typeface="Times New Roman" panose="02020603050405020304" pitchFamily="18" charset="0"/>
                <a:cs typeface="Times New Roman" panose="02020603050405020304" pitchFamily="18" charset="0"/>
              </a:rPr>
              <a:t> </a:t>
            </a:r>
            <a:r>
              <a:rPr lang="en-IN" sz="1400" b="1" dirty="0" err="1">
                <a:latin typeface="Times New Roman" panose="02020603050405020304" pitchFamily="18" charset="0"/>
                <a:cs typeface="Times New Roman" panose="02020603050405020304" pitchFamily="18" charset="0"/>
              </a:rPr>
              <a:t>Jupyter</a:t>
            </a:r>
            <a:r>
              <a:rPr lang="en-IN" sz="1400" b="1" dirty="0">
                <a:latin typeface="Times New Roman" panose="02020603050405020304" pitchFamily="18" charset="0"/>
                <a:cs typeface="Times New Roman" panose="02020603050405020304" pitchFamily="18" charset="0"/>
              </a:rPr>
              <a:t> Notebook/Google </a:t>
            </a:r>
            <a:r>
              <a:rPr lang="en-IN" sz="1400" b="1" dirty="0" err="1">
                <a:latin typeface="Times New Roman" panose="02020603050405020304" pitchFamily="18" charset="0"/>
                <a:cs typeface="Times New Roman" panose="02020603050405020304" pitchFamily="18" charset="0"/>
              </a:rPr>
              <a:t>Colab</a:t>
            </a:r>
            <a:r>
              <a:rPr lang="en-IN" sz="1400" b="1"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Interactive platforms for prototyping, training, and visualizing models.</a:t>
            </a:r>
          </a:p>
        </p:txBody>
      </p:sp>
      <p:sp>
        <p:nvSpPr>
          <p:cNvPr id="53" name="TextBox 52">
            <a:extLst>
              <a:ext uri="{FF2B5EF4-FFF2-40B4-BE49-F238E27FC236}">
                <a16:creationId xmlns:a16="http://schemas.microsoft.com/office/drawing/2014/main" id="{D469C05B-50E0-AC87-AA75-D89E6B578A56}"/>
              </a:ext>
            </a:extLst>
          </p:cNvPr>
          <p:cNvSpPr txBox="1"/>
          <p:nvPr/>
        </p:nvSpPr>
        <p:spPr>
          <a:xfrm>
            <a:off x="6459951" y="3693094"/>
            <a:ext cx="3336667"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External Data Sources</a:t>
            </a:r>
            <a:endParaRPr lang="en-IN" dirty="0"/>
          </a:p>
        </p:txBody>
      </p:sp>
      <p:sp>
        <p:nvSpPr>
          <p:cNvPr id="57" name="TextBox 56">
            <a:extLst>
              <a:ext uri="{FF2B5EF4-FFF2-40B4-BE49-F238E27FC236}">
                <a16:creationId xmlns:a16="http://schemas.microsoft.com/office/drawing/2014/main" id="{BB246A25-2685-3EE5-FB95-8C4EEBC7DF0A}"/>
              </a:ext>
            </a:extLst>
          </p:cNvPr>
          <p:cNvSpPr txBox="1"/>
          <p:nvPr/>
        </p:nvSpPr>
        <p:spPr>
          <a:xfrm>
            <a:off x="6459951" y="4151079"/>
            <a:ext cx="4496821" cy="523220"/>
          </a:xfrm>
          <a:prstGeom prst="rect">
            <a:avLst/>
          </a:prstGeom>
          <a:noFill/>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Kaggle:</a:t>
            </a:r>
            <a:r>
              <a:rPr lang="en-IN" sz="1400" dirty="0">
                <a:latin typeface="Times New Roman" panose="02020603050405020304" pitchFamily="18" charset="0"/>
                <a:cs typeface="Times New Roman" panose="02020603050405020304" pitchFamily="18" charset="0"/>
              </a:rPr>
              <a:t> Provides crop disease image datasets for training the CNN.</a:t>
            </a:r>
          </a:p>
        </p:txBody>
      </p:sp>
      <p:sp>
        <p:nvSpPr>
          <p:cNvPr id="61" name="TextBox 60">
            <a:extLst>
              <a:ext uri="{FF2B5EF4-FFF2-40B4-BE49-F238E27FC236}">
                <a16:creationId xmlns:a16="http://schemas.microsoft.com/office/drawing/2014/main" id="{F9A4B316-32D1-3F33-EBBC-81B6DDD22524}"/>
              </a:ext>
            </a:extLst>
          </p:cNvPr>
          <p:cNvSpPr txBox="1"/>
          <p:nvPr/>
        </p:nvSpPr>
        <p:spPr>
          <a:xfrm>
            <a:off x="6486775" y="4712353"/>
            <a:ext cx="3336667"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Image Processing </a:t>
            </a:r>
            <a:endParaRPr lang="en-IN" dirty="0"/>
          </a:p>
        </p:txBody>
      </p:sp>
      <p:sp>
        <p:nvSpPr>
          <p:cNvPr id="65" name="TextBox 64">
            <a:extLst>
              <a:ext uri="{FF2B5EF4-FFF2-40B4-BE49-F238E27FC236}">
                <a16:creationId xmlns:a16="http://schemas.microsoft.com/office/drawing/2014/main" id="{FA5B37FF-711B-DB4B-F693-EF2539C7BB1F}"/>
              </a:ext>
            </a:extLst>
          </p:cNvPr>
          <p:cNvSpPr txBox="1"/>
          <p:nvPr/>
        </p:nvSpPr>
        <p:spPr>
          <a:xfrm>
            <a:off x="6525184" y="5082655"/>
            <a:ext cx="4433521" cy="523220"/>
          </a:xfrm>
          <a:prstGeom prst="rect">
            <a:avLst/>
          </a:prstGeom>
          <a:noFill/>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OpenCV: </a:t>
            </a:r>
            <a:r>
              <a:rPr lang="en-IN" sz="1400" dirty="0">
                <a:latin typeface="Times New Roman" panose="02020603050405020304" pitchFamily="18" charset="0"/>
                <a:cs typeface="Times New Roman" panose="02020603050405020304" pitchFamily="18" charset="0"/>
              </a:rPr>
              <a:t>Pre-processes crop images to enhance quality before CNN classification.</a:t>
            </a:r>
          </a:p>
        </p:txBody>
      </p:sp>
    </p:spTree>
    <p:extLst>
      <p:ext uri="{BB962C8B-B14F-4D97-AF65-F5344CB8AC3E}">
        <p14:creationId xmlns:p14="http://schemas.microsoft.com/office/powerpoint/2010/main" val="339125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5E01-52D2-F0AF-37E2-77F3E4FF6167}"/>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AFBD456E-5643-A366-D2A2-CCA1EAB0F921}"/>
              </a:ext>
            </a:extLst>
          </p:cNvPr>
          <p:cNvSpPr/>
          <p:nvPr/>
        </p:nvSpPr>
        <p:spPr>
          <a:xfrm>
            <a:off x="106158" y="211032"/>
            <a:ext cx="11975261" cy="6524065"/>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DBFE2B4E-9F2B-9D46-CD03-F97B5BBE7014}"/>
              </a:ext>
            </a:extLst>
          </p:cNvPr>
          <p:cNvSpPr txBox="1"/>
          <p:nvPr/>
        </p:nvSpPr>
        <p:spPr>
          <a:xfrm>
            <a:off x="110580" y="202260"/>
            <a:ext cx="11970839" cy="830997"/>
          </a:xfrm>
          <a:prstGeom prst="rect">
            <a:avLst/>
          </a:prstGeom>
          <a:noFill/>
        </p:spPr>
        <p:txBody>
          <a:bodyPr wrap="square" rtlCol="0">
            <a:spAutoFit/>
          </a:bodyPr>
          <a:lstStyle/>
          <a:p>
            <a:pPr algn="ctr"/>
            <a:r>
              <a:rPr lang="en-IN" sz="4800" b="1" dirty="0">
                <a:solidFill>
                  <a:schemeClr val="accent6">
                    <a:lumMod val="75000"/>
                  </a:schemeClr>
                </a:solidFill>
                <a:latin typeface="Times New Roman" panose="02020603050405020304" pitchFamily="18" charset="0"/>
                <a:cs typeface="Times New Roman" panose="02020603050405020304" pitchFamily="18" charset="0"/>
              </a:rPr>
              <a:t>Dataset</a:t>
            </a:r>
          </a:p>
        </p:txBody>
      </p:sp>
      <p:sp>
        <p:nvSpPr>
          <p:cNvPr id="16" name="TextBox 15">
            <a:extLst>
              <a:ext uri="{FF2B5EF4-FFF2-40B4-BE49-F238E27FC236}">
                <a16:creationId xmlns:a16="http://schemas.microsoft.com/office/drawing/2014/main" id="{2F120089-F006-3DA6-F446-135D1BECABB4}"/>
              </a:ext>
            </a:extLst>
          </p:cNvPr>
          <p:cNvSpPr txBox="1"/>
          <p:nvPr/>
        </p:nvSpPr>
        <p:spPr>
          <a:xfrm>
            <a:off x="147734" y="1712104"/>
            <a:ext cx="3321050" cy="646331"/>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Crop Recommendation Dataset</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3EF7EDC3-E917-F909-6733-971DE0C278EE}"/>
              </a:ext>
            </a:extLst>
          </p:cNvPr>
          <p:cNvSpPr txBox="1"/>
          <p:nvPr/>
        </p:nvSpPr>
        <p:spPr>
          <a:xfrm>
            <a:off x="181739" y="3209775"/>
            <a:ext cx="2861212"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Crop Yield  Dataset</a:t>
            </a:r>
            <a:endParaRPr lang="en-IN" sz="1800"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DADB865-C75A-7E17-524B-6234AD55BB98}"/>
              </a:ext>
            </a:extLst>
          </p:cNvPr>
          <p:cNvSpPr txBox="1"/>
          <p:nvPr/>
        </p:nvSpPr>
        <p:spPr>
          <a:xfrm>
            <a:off x="164381" y="4806044"/>
            <a:ext cx="3844537"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Fertilizer Recommendation Dataset</a:t>
            </a:r>
            <a:endParaRPr lang="en-IN" sz="1800" b="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5D4AB0BC-A9D0-C800-4D3A-7853CEAE010C}"/>
              </a:ext>
            </a:extLst>
          </p:cNvPr>
          <p:cNvSpPr txBox="1"/>
          <p:nvPr/>
        </p:nvSpPr>
        <p:spPr>
          <a:xfrm>
            <a:off x="7665246" y="1290488"/>
            <a:ext cx="3342856"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Crop Disease Detection Dataset</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BD4B45D-9AA6-B03C-7EBD-2EABBE900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5729" y="1589601"/>
            <a:ext cx="5381890" cy="5031049"/>
          </a:xfrm>
          <a:prstGeom prst="rect">
            <a:avLst/>
          </a:prstGeom>
        </p:spPr>
      </p:pic>
      <p:pic>
        <p:nvPicPr>
          <p:cNvPr id="5" name="Picture 4">
            <a:extLst>
              <a:ext uri="{FF2B5EF4-FFF2-40B4-BE49-F238E27FC236}">
                <a16:creationId xmlns:a16="http://schemas.microsoft.com/office/drawing/2014/main" id="{D36B966C-8CB8-A563-31B0-AF0ABE26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704" y="2030386"/>
            <a:ext cx="6572060" cy="1159416"/>
          </a:xfrm>
          <a:prstGeom prst="rect">
            <a:avLst/>
          </a:prstGeom>
        </p:spPr>
      </p:pic>
      <p:pic>
        <p:nvPicPr>
          <p:cNvPr id="9" name="Picture 8">
            <a:extLst>
              <a:ext uri="{FF2B5EF4-FFF2-40B4-BE49-F238E27FC236}">
                <a16:creationId xmlns:a16="http://schemas.microsoft.com/office/drawing/2014/main" id="{2B9FB558-E372-B486-3869-7B918E7ED3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205" y="5108656"/>
            <a:ext cx="6572060" cy="1159416"/>
          </a:xfrm>
          <a:prstGeom prst="rect">
            <a:avLst/>
          </a:prstGeom>
        </p:spPr>
      </p:pic>
      <p:pic>
        <p:nvPicPr>
          <p:cNvPr id="28" name="Picture 27">
            <a:extLst>
              <a:ext uri="{FF2B5EF4-FFF2-40B4-BE49-F238E27FC236}">
                <a16:creationId xmlns:a16="http://schemas.microsoft.com/office/drawing/2014/main" id="{3268A07D-84E7-9804-95B0-FEBDBA73EC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1739" y="3535539"/>
            <a:ext cx="6574090" cy="1159416"/>
          </a:xfrm>
          <a:prstGeom prst="rect">
            <a:avLst/>
          </a:prstGeom>
        </p:spPr>
      </p:pic>
    </p:spTree>
    <p:extLst>
      <p:ext uri="{BB962C8B-B14F-4D97-AF65-F5344CB8AC3E}">
        <p14:creationId xmlns:p14="http://schemas.microsoft.com/office/powerpoint/2010/main" val="314365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324CC-29BC-FD78-2CE1-71E8722F43D6}"/>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FEB3F8FB-AC7E-5B4F-4B72-064D3ECC86FC}"/>
              </a:ext>
            </a:extLst>
          </p:cNvPr>
          <p:cNvSpPr/>
          <p:nvPr/>
        </p:nvSpPr>
        <p:spPr>
          <a:xfrm>
            <a:off x="106158" y="211032"/>
            <a:ext cx="11975261" cy="6524065"/>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996F7D23-C213-BA69-4BD7-2F15E2BBBF82}"/>
              </a:ext>
            </a:extLst>
          </p:cNvPr>
          <p:cNvSpPr txBox="1"/>
          <p:nvPr/>
        </p:nvSpPr>
        <p:spPr>
          <a:xfrm>
            <a:off x="110580" y="114131"/>
            <a:ext cx="11970839" cy="830997"/>
          </a:xfrm>
          <a:prstGeom prst="rect">
            <a:avLst/>
          </a:prstGeom>
          <a:noFill/>
        </p:spPr>
        <p:txBody>
          <a:bodyPr wrap="square" rtlCol="0">
            <a:spAutoFit/>
          </a:bodyPr>
          <a:lstStyle/>
          <a:p>
            <a:pPr algn="ctr"/>
            <a:r>
              <a:rPr lang="en-IN" sz="4800" b="1" dirty="0">
                <a:solidFill>
                  <a:schemeClr val="accent6">
                    <a:lumMod val="75000"/>
                  </a:schemeClr>
                </a:solidFill>
                <a:latin typeface="Times New Roman" panose="02020603050405020304" pitchFamily="18" charset="0"/>
                <a:cs typeface="Times New Roman" panose="02020603050405020304" pitchFamily="18" charset="0"/>
              </a:rPr>
              <a:t>Data Visualization</a:t>
            </a:r>
          </a:p>
        </p:txBody>
      </p:sp>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245E71EC-55BE-2CE6-BF37-8468425A4A92}"/>
                  </a:ext>
                </a:extLst>
              </p:cNvPr>
              <p:cNvGraphicFramePr>
                <a:graphicFrameLocks noChangeAspect="1"/>
              </p:cNvGraphicFramePr>
              <p:nvPr>
                <p:extLst>
                  <p:ext uri="{D42A27DB-BD31-4B8C-83A1-F6EECF244321}">
                    <p14:modId xmlns:p14="http://schemas.microsoft.com/office/powerpoint/2010/main" val="3284546744"/>
                  </p:ext>
                </p:extLst>
              </p:nvPr>
            </p:nvGraphicFramePr>
            <p:xfrm>
              <a:off x="5913705" y="3429000"/>
              <a:ext cx="2803575" cy="1325911"/>
            </p:xfrm>
            <a:graphic>
              <a:graphicData uri="http://schemas.microsoft.com/office/powerpoint/2016/slidezoom">
                <pslz:sldZm>
                  <pslz:sldZmObj sldId="286" cId="549362623">
                    <pslz:zmPr id="{D0B76B67-6FF2-4308-B5F9-F86E88C60AEF}" returnToParent="0" transitionDur="1000">
                      <p166:blipFill xmlns:p166="http://schemas.microsoft.com/office/powerpoint/2016/6/main">
                        <a:blip r:embed="rId3"/>
                        <a:stretch>
                          <a:fillRect/>
                        </a:stretch>
                      </p166:blipFill>
                      <p166:spPr xmlns:p166="http://schemas.microsoft.com/office/powerpoint/2016/6/main">
                        <a:xfrm>
                          <a:off x="0" y="0"/>
                          <a:ext cx="2803575" cy="1325911"/>
                        </a:xfrm>
                        <a:prstGeom prst="rect">
                          <a:avLst/>
                        </a:prstGeom>
                        <a:ln w="3175">
                          <a:solidFill>
                            <a:prstClr val="ltGray"/>
                          </a:solidFill>
                        </a:ln>
                      </p166:spPr>
                    </pslz:zmPr>
                  </pslz:sldZmObj>
                </pslz:sldZm>
              </a:graphicData>
            </a:graphic>
          </p:graphicFrame>
        </mc:Choice>
        <mc:Fallback xmlns="">
          <p:pic>
            <p:nvPicPr>
              <p:cNvPr id="8" name="Slide Zoom 7">
                <a:hlinkClick r:id="rId4" action="ppaction://hlinksldjump"/>
                <a:extLst>
                  <a:ext uri="{FF2B5EF4-FFF2-40B4-BE49-F238E27FC236}">
                    <a16:creationId xmlns:a16="http://schemas.microsoft.com/office/drawing/2014/main" id="{245E71EC-55BE-2CE6-BF37-8468425A4A92}"/>
                  </a:ext>
                </a:extLst>
              </p:cNvPr>
              <p:cNvPicPr>
                <a:picLocks noGrp="1" noRot="1" noChangeAspect="1" noMove="1" noResize="1" noEditPoints="1" noAdjustHandles="1" noChangeArrowheads="1" noChangeShapeType="1"/>
              </p:cNvPicPr>
              <p:nvPr/>
            </p:nvPicPr>
            <p:blipFill>
              <a:blip r:embed="rId5"/>
              <a:stretch>
                <a:fillRect/>
              </a:stretch>
            </p:blipFill>
            <p:spPr>
              <a:xfrm>
                <a:off x="5913705" y="3429000"/>
                <a:ext cx="2803575" cy="132591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02D59F56-64E3-E4F6-EDEF-DE935F6B27BD}"/>
                  </a:ext>
                </a:extLst>
              </p:cNvPr>
              <p:cNvGraphicFramePr>
                <a:graphicFrameLocks noChangeAspect="1"/>
              </p:cNvGraphicFramePr>
              <p:nvPr>
                <p:extLst>
                  <p:ext uri="{D42A27DB-BD31-4B8C-83A1-F6EECF244321}">
                    <p14:modId xmlns:p14="http://schemas.microsoft.com/office/powerpoint/2010/main" val="1696340520"/>
                  </p:ext>
                </p:extLst>
              </p:nvPr>
            </p:nvGraphicFramePr>
            <p:xfrm>
              <a:off x="279966" y="945128"/>
              <a:ext cx="5258765" cy="5641175"/>
            </p:xfrm>
            <a:graphic>
              <a:graphicData uri="http://schemas.microsoft.com/office/powerpoint/2016/slidezoom">
                <pslz:sldZm>
                  <pslz:sldZmObj sldId="287" cId="2871491223">
                    <pslz:zmPr id="{A6094A5B-5443-4B9B-AE00-858814FA7CCF}" returnToParent="0" transitionDur="1000">
                      <p166:blipFill xmlns:p166="http://schemas.microsoft.com/office/powerpoint/2016/6/main">
                        <a:blip r:embed="rId6"/>
                        <a:stretch>
                          <a:fillRect/>
                        </a:stretch>
                      </p166:blipFill>
                      <p166:spPr xmlns:p166="http://schemas.microsoft.com/office/powerpoint/2016/6/main">
                        <a:xfrm>
                          <a:off x="0" y="0"/>
                          <a:ext cx="5258765" cy="5641175"/>
                        </a:xfrm>
                        <a:prstGeom prst="rect">
                          <a:avLst/>
                        </a:prstGeom>
                        <a:ln w="3175">
                          <a:solidFill>
                            <a:prstClr val="ltGray"/>
                          </a:solidFill>
                        </a:ln>
                      </p166:spPr>
                    </pslz:zmPr>
                  </pslz:sldZmObj>
                </pslz:sldZm>
              </a:graphicData>
            </a:graphic>
          </p:graphicFrame>
        </mc:Choice>
        <mc:Fallback xmlns="">
          <p:pic>
            <p:nvPicPr>
              <p:cNvPr id="11" name="Slide Zoom 10">
                <a:hlinkClick r:id="rId7" action="ppaction://hlinksldjump"/>
                <a:extLst>
                  <a:ext uri="{FF2B5EF4-FFF2-40B4-BE49-F238E27FC236}">
                    <a16:creationId xmlns:a16="http://schemas.microsoft.com/office/drawing/2014/main" id="{02D59F56-64E3-E4F6-EDEF-DE935F6B27BD}"/>
                  </a:ext>
                </a:extLst>
              </p:cNvPr>
              <p:cNvPicPr>
                <a:picLocks noGrp="1" noRot="1" noChangeAspect="1" noMove="1" noResize="1" noEditPoints="1" noAdjustHandles="1" noChangeArrowheads="1" noChangeShapeType="1"/>
              </p:cNvPicPr>
              <p:nvPr/>
            </p:nvPicPr>
            <p:blipFill>
              <a:blip r:embed="rId8"/>
              <a:stretch>
                <a:fillRect/>
              </a:stretch>
            </p:blipFill>
            <p:spPr>
              <a:xfrm>
                <a:off x="279966" y="945128"/>
                <a:ext cx="5258765" cy="564117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343ED9C9-ED0A-E88F-860B-72F977802D38}"/>
                  </a:ext>
                </a:extLst>
              </p:cNvPr>
              <p:cNvGraphicFramePr>
                <a:graphicFrameLocks noChangeAspect="1"/>
              </p:cNvGraphicFramePr>
              <p:nvPr>
                <p:extLst>
                  <p:ext uri="{D42A27DB-BD31-4B8C-83A1-F6EECF244321}">
                    <p14:modId xmlns:p14="http://schemas.microsoft.com/office/powerpoint/2010/main" val="2173787295"/>
                  </p:ext>
                </p:extLst>
              </p:nvPr>
            </p:nvGraphicFramePr>
            <p:xfrm>
              <a:off x="6452343" y="822005"/>
              <a:ext cx="4438855" cy="2496856"/>
            </p:xfrm>
            <a:graphic>
              <a:graphicData uri="http://schemas.microsoft.com/office/powerpoint/2016/slidezoom">
                <pslz:sldZm>
                  <pslz:sldZmObj sldId="288" cId="1607520827">
                    <pslz:zmPr id="{693E5652-BA0E-42B1-B4C0-A3AEAD09F501}" returnToParent="0" transitionDur="1000">
                      <p166:blipFill xmlns:p166="http://schemas.microsoft.com/office/powerpoint/2016/6/main">
                        <a:blip r:embed="rId9"/>
                        <a:stretch>
                          <a:fillRect/>
                        </a:stretch>
                      </p166:blipFill>
                      <p166:spPr xmlns:p166="http://schemas.microsoft.com/office/powerpoint/2016/6/main">
                        <a:xfrm>
                          <a:off x="0" y="0"/>
                          <a:ext cx="4438855" cy="2496856"/>
                        </a:xfrm>
                        <a:prstGeom prst="rect">
                          <a:avLst/>
                        </a:prstGeom>
                        <a:ln w="3175">
                          <a:solidFill>
                            <a:prstClr val="ltGray"/>
                          </a:solidFill>
                        </a:ln>
                      </p166:spPr>
                    </pslz:zmPr>
                  </pslz:sldZmObj>
                </pslz:sldZm>
              </a:graphicData>
            </a:graphic>
          </p:graphicFrame>
        </mc:Choice>
        <mc:Fallback xmlns="">
          <p:pic>
            <p:nvPicPr>
              <p:cNvPr id="13" name="Slide Zoom 12">
                <a:hlinkClick r:id="rId10" action="ppaction://hlinksldjump"/>
                <a:extLst>
                  <a:ext uri="{FF2B5EF4-FFF2-40B4-BE49-F238E27FC236}">
                    <a16:creationId xmlns:a16="http://schemas.microsoft.com/office/drawing/2014/main" id="{343ED9C9-ED0A-E88F-860B-72F977802D38}"/>
                  </a:ext>
                </a:extLst>
              </p:cNvPr>
              <p:cNvPicPr>
                <a:picLocks noGrp="1" noRot="1" noChangeAspect="1" noMove="1" noResize="1" noEditPoints="1" noAdjustHandles="1" noChangeArrowheads="1" noChangeShapeType="1"/>
              </p:cNvPicPr>
              <p:nvPr/>
            </p:nvPicPr>
            <p:blipFill>
              <a:blip r:embed="rId11"/>
              <a:stretch>
                <a:fillRect/>
              </a:stretch>
            </p:blipFill>
            <p:spPr>
              <a:xfrm>
                <a:off x="6452343" y="822005"/>
                <a:ext cx="4438855" cy="249685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358CE70E-9D72-D320-5C10-53CB5B0B0480}"/>
                  </a:ext>
                </a:extLst>
              </p:cNvPr>
              <p:cNvGraphicFramePr>
                <a:graphicFrameLocks noChangeAspect="1"/>
              </p:cNvGraphicFramePr>
              <p:nvPr>
                <p:extLst>
                  <p:ext uri="{D42A27DB-BD31-4B8C-83A1-F6EECF244321}">
                    <p14:modId xmlns:p14="http://schemas.microsoft.com/office/powerpoint/2010/main" val="773744792"/>
                  </p:ext>
                </p:extLst>
              </p:nvPr>
            </p:nvGraphicFramePr>
            <p:xfrm>
              <a:off x="8963783" y="3318861"/>
              <a:ext cx="3048000" cy="1714500"/>
            </p:xfrm>
            <a:graphic>
              <a:graphicData uri="http://schemas.microsoft.com/office/powerpoint/2016/slidezoom">
                <pslz:sldZm>
                  <pslz:sldZmObj sldId="289" cId="3687249139">
                    <pslz:zmPr id="{7DC08D52-1EEC-4997-A112-44F21A347EC2}" returnToParent="0"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7" name="Slide Zoom 16">
                <a:hlinkClick r:id="rId13" action="ppaction://hlinksldjump"/>
                <a:extLst>
                  <a:ext uri="{FF2B5EF4-FFF2-40B4-BE49-F238E27FC236}">
                    <a16:creationId xmlns:a16="http://schemas.microsoft.com/office/drawing/2014/main" id="{358CE70E-9D72-D320-5C10-53CB5B0B0480}"/>
                  </a:ext>
                </a:extLst>
              </p:cNvPr>
              <p:cNvPicPr>
                <a:picLocks noGrp="1" noRot="1" noChangeAspect="1" noMove="1" noResize="1" noEditPoints="1" noAdjustHandles="1" noChangeArrowheads="1" noChangeShapeType="1"/>
              </p:cNvPicPr>
              <p:nvPr/>
            </p:nvPicPr>
            <p:blipFill>
              <a:blip r:embed="rId14"/>
              <a:stretch>
                <a:fillRect/>
              </a:stretch>
            </p:blipFill>
            <p:spPr>
              <a:xfrm>
                <a:off x="8963783" y="3318861"/>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0" name="Slide Zoom 19">
                <a:extLst>
                  <a:ext uri="{FF2B5EF4-FFF2-40B4-BE49-F238E27FC236}">
                    <a16:creationId xmlns:a16="http://schemas.microsoft.com/office/drawing/2014/main" id="{B08DEEF9-CB84-EEDE-64C5-A3F4ECB45E2E}"/>
                  </a:ext>
                </a:extLst>
              </p:cNvPr>
              <p:cNvGraphicFramePr>
                <a:graphicFrameLocks noChangeAspect="1"/>
              </p:cNvGraphicFramePr>
              <p:nvPr>
                <p:extLst>
                  <p:ext uri="{D42A27DB-BD31-4B8C-83A1-F6EECF244321}">
                    <p14:modId xmlns:p14="http://schemas.microsoft.com/office/powerpoint/2010/main" val="2067290323"/>
                  </p:ext>
                </p:extLst>
              </p:nvPr>
            </p:nvGraphicFramePr>
            <p:xfrm>
              <a:off x="5846147" y="4932468"/>
              <a:ext cx="3048000" cy="1714500"/>
            </p:xfrm>
            <a:graphic>
              <a:graphicData uri="http://schemas.microsoft.com/office/powerpoint/2016/slidezoom">
                <pslz:sldZm>
                  <pslz:sldZmObj sldId="290" cId="185531258">
                    <pslz:zmPr id="{96A9AB61-C243-431A-B927-A382CF0EEC5E}" returnToParent="0"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20" name="Slide Zoom 19">
                <a:hlinkClick r:id="rId16" action="ppaction://hlinksldjump"/>
                <a:extLst>
                  <a:ext uri="{FF2B5EF4-FFF2-40B4-BE49-F238E27FC236}">
                    <a16:creationId xmlns:a16="http://schemas.microsoft.com/office/drawing/2014/main" id="{B08DEEF9-CB84-EEDE-64C5-A3F4ECB45E2E}"/>
                  </a:ext>
                </a:extLst>
              </p:cNvPr>
              <p:cNvPicPr>
                <a:picLocks noGrp="1" noRot="1" noChangeAspect="1" noMove="1" noResize="1" noEditPoints="1" noAdjustHandles="1" noChangeArrowheads="1" noChangeShapeType="1"/>
              </p:cNvPicPr>
              <p:nvPr/>
            </p:nvPicPr>
            <p:blipFill>
              <a:blip r:embed="rId17"/>
              <a:stretch>
                <a:fillRect/>
              </a:stretch>
            </p:blipFill>
            <p:spPr>
              <a:xfrm>
                <a:off x="5846147" y="4932468"/>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863302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DC54630-77E9-3BF7-3AF9-8841764EFC7F}"/>
              </a:ext>
            </a:extLst>
          </p:cNvPr>
          <p:cNvPicPr>
            <a:picLocks noChangeAspect="1"/>
          </p:cNvPicPr>
          <p:nvPr/>
        </p:nvPicPr>
        <p:blipFill>
          <a:blip r:embed="rId2">
            <a:extLst>
              <a:ext uri="{28A0092B-C50C-407E-A947-70E740481C1C}">
                <a14:useLocalDpi xmlns:a14="http://schemas.microsoft.com/office/drawing/2010/main" val="0"/>
              </a:ext>
            </a:extLst>
          </a:blip>
          <a:srcRect l="1241" r="1768"/>
          <a:stretch/>
        </p:blipFill>
        <p:spPr>
          <a:xfrm>
            <a:off x="1" y="0"/>
            <a:ext cx="12192000" cy="6858000"/>
          </a:xfrm>
          <a:prstGeom prst="rect">
            <a:avLst/>
          </a:prstGeom>
        </p:spPr>
      </p:pic>
    </p:spTree>
    <p:extLst>
      <p:ext uri="{BB962C8B-B14F-4D97-AF65-F5344CB8AC3E}">
        <p14:creationId xmlns:p14="http://schemas.microsoft.com/office/powerpoint/2010/main" val="287149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0438B8-E010-9671-8F0D-21455315ECCF}"/>
              </a:ext>
            </a:extLst>
          </p:cNvPr>
          <p:cNvPicPr>
            <a:picLocks noChangeAspect="1"/>
          </p:cNvPicPr>
          <p:nvPr/>
        </p:nvPicPr>
        <p:blipFill>
          <a:blip r:embed="rId2">
            <a:extLst>
              <a:ext uri="{28A0092B-C50C-407E-A947-70E740481C1C}">
                <a14:useLocalDpi xmlns:a14="http://schemas.microsoft.com/office/drawing/2010/main" val="0"/>
              </a:ext>
            </a:extLst>
          </a:blip>
          <a:srcRect l="1153" t="303" b="1433"/>
          <a:stretch/>
        </p:blipFill>
        <p:spPr>
          <a:xfrm>
            <a:off x="177486" y="208344"/>
            <a:ext cx="11837028" cy="6296628"/>
          </a:xfrm>
          <a:prstGeom prst="rect">
            <a:avLst/>
          </a:prstGeom>
        </p:spPr>
      </p:pic>
    </p:spTree>
    <p:extLst>
      <p:ext uri="{BB962C8B-B14F-4D97-AF65-F5344CB8AC3E}">
        <p14:creationId xmlns:p14="http://schemas.microsoft.com/office/powerpoint/2010/main" val="1607520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28FB65-0D44-D8F5-671F-699BB7A8707C}"/>
              </a:ext>
            </a:extLst>
          </p:cNvPr>
          <p:cNvPicPr>
            <a:picLocks noChangeAspect="1"/>
          </p:cNvPicPr>
          <p:nvPr/>
        </p:nvPicPr>
        <p:blipFill>
          <a:blip r:embed="rId2">
            <a:extLst>
              <a:ext uri="{28A0092B-C50C-407E-A947-70E740481C1C}">
                <a14:useLocalDpi xmlns:a14="http://schemas.microsoft.com/office/drawing/2010/main" val="0"/>
              </a:ext>
            </a:extLst>
          </a:blip>
          <a:srcRect r="-2535" b="65724"/>
          <a:stretch/>
        </p:blipFill>
        <p:spPr>
          <a:xfrm>
            <a:off x="81023" y="0"/>
            <a:ext cx="12110977" cy="6858000"/>
          </a:xfrm>
          <a:prstGeom prst="rect">
            <a:avLst/>
          </a:prstGeom>
        </p:spPr>
      </p:pic>
    </p:spTree>
    <p:extLst>
      <p:ext uri="{BB962C8B-B14F-4D97-AF65-F5344CB8AC3E}">
        <p14:creationId xmlns:p14="http://schemas.microsoft.com/office/powerpoint/2010/main" val="549362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1CB4C3-FD96-92A1-A6E8-BCBE99087D52}"/>
              </a:ext>
            </a:extLst>
          </p:cNvPr>
          <p:cNvPicPr>
            <a:picLocks noChangeAspect="1"/>
          </p:cNvPicPr>
          <p:nvPr/>
        </p:nvPicPr>
        <p:blipFill>
          <a:blip r:embed="rId2">
            <a:extLst>
              <a:ext uri="{28A0092B-C50C-407E-A947-70E740481C1C}">
                <a14:useLocalDpi xmlns:a14="http://schemas.microsoft.com/office/drawing/2010/main" val="0"/>
              </a:ext>
            </a:extLst>
          </a:blip>
          <a:srcRect t="33086" b="32064"/>
          <a:stretch/>
        </p:blipFill>
        <p:spPr>
          <a:xfrm>
            <a:off x="0" y="0"/>
            <a:ext cx="12191109" cy="6857999"/>
          </a:xfrm>
          <a:prstGeom prst="rect">
            <a:avLst/>
          </a:prstGeom>
        </p:spPr>
      </p:pic>
    </p:spTree>
    <p:extLst>
      <p:ext uri="{BB962C8B-B14F-4D97-AF65-F5344CB8AC3E}">
        <p14:creationId xmlns:p14="http://schemas.microsoft.com/office/powerpoint/2010/main" val="18553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875F000-E233-7A53-0899-D1395EF885B0}"/>
              </a:ext>
            </a:extLst>
          </p:cNvPr>
          <p:cNvPicPr>
            <a:picLocks noChangeAspect="1"/>
          </p:cNvPicPr>
          <p:nvPr/>
        </p:nvPicPr>
        <p:blipFill>
          <a:blip r:embed="rId2">
            <a:extLst>
              <a:ext uri="{28A0092B-C50C-407E-A947-70E740481C1C}">
                <a14:useLocalDpi xmlns:a14="http://schemas.microsoft.com/office/drawing/2010/main" val="0"/>
              </a:ext>
            </a:extLst>
          </a:blip>
          <a:srcRect l="614" t="67486" r="-614" b="1498"/>
          <a:stretch/>
        </p:blipFill>
        <p:spPr>
          <a:xfrm>
            <a:off x="159728" y="393539"/>
            <a:ext cx="11872544" cy="6018836"/>
          </a:xfrm>
          <a:prstGeom prst="rect">
            <a:avLst/>
          </a:prstGeom>
        </p:spPr>
      </p:pic>
    </p:spTree>
    <p:extLst>
      <p:ext uri="{BB962C8B-B14F-4D97-AF65-F5344CB8AC3E}">
        <p14:creationId xmlns:p14="http://schemas.microsoft.com/office/powerpoint/2010/main" val="3687249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DBC2-A620-3DA6-ADE8-454E1A5E17BD}"/>
            </a:ext>
          </a:extLst>
        </p:cNvPr>
        <p:cNvGrpSpPr/>
        <p:nvPr/>
      </p:nvGrpSpPr>
      <p:grpSpPr>
        <a:xfrm>
          <a:off x="0" y="0"/>
          <a:ext cx="0" cy="0"/>
          <a:chOff x="0" y="0"/>
          <a:chExt cx="0" cy="0"/>
        </a:xfrm>
      </p:grpSpPr>
      <p:pic>
        <p:nvPicPr>
          <p:cNvPr id="3" name="Picture 2" descr="A close up of a plant&#10;&#10;Description automatically generated with low confidence">
            <a:extLst>
              <a:ext uri="{FF2B5EF4-FFF2-40B4-BE49-F238E27FC236}">
                <a16:creationId xmlns:a16="http://schemas.microsoft.com/office/drawing/2014/main" id="{9E63827C-0997-0160-D60C-C5264B786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0066" y="3073400"/>
            <a:ext cx="1482980" cy="3784600"/>
          </a:xfrm>
          <a:prstGeom prst="rect">
            <a:avLst/>
          </a:prstGeom>
        </p:spPr>
      </p:pic>
      <p:sp>
        <p:nvSpPr>
          <p:cNvPr id="4" name="Rectangle 3">
            <a:extLst>
              <a:ext uri="{FF2B5EF4-FFF2-40B4-BE49-F238E27FC236}">
                <a16:creationId xmlns:a16="http://schemas.microsoft.com/office/drawing/2014/main" id="{E3367FB0-C96A-F7BE-99BD-F3AA605814FB}"/>
              </a:ext>
            </a:extLst>
          </p:cNvPr>
          <p:cNvSpPr/>
          <p:nvPr/>
        </p:nvSpPr>
        <p:spPr>
          <a:xfrm>
            <a:off x="0" y="0"/>
            <a:ext cx="3683000"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94E3DE2A-2E33-ADFD-209F-9090CC840714}"/>
              </a:ext>
            </a:extLst>
          </p:cNvPr>
          <p:cNvSpPr/>
          <p:nvPr/>
        </p:nvSpPr>
        <p:spPr>
          <a:xfrm>
            <a:off x="236001" y="145023"/>
            <a:ext cx="11916696" cy="6567949"/>
          </a:xfrm>
          <a:prstGeom prst="rect">
            <a:avLst/>
          </a:prstGeom>
          <a:noFill/>
          <a:ln w="412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CBC2E6D-B85C-C11D-5933-E8FBDC8A519B}"/>
              </a:ext>
            </a:extLst>
          </p:cNvPr>
          <p:cNvGrpSpPr/>
          <p:nvPr/>
        </p:nvGrpSpPr>
        <p:grpSpPr>
          <a:xfrm>
            <a:off x="450019" y="370639"/>
            <a:ext cx="5068729" cy="6116715"/>
            <a:chOff x="5167790" y="492462"/>
            <a:chExt cx="5068729" cy="5997797"/>
          </a:xfrm>
        </p:grpSpPr>
        <p:pic>
          <p:nvPicPr>
            <p:cNvPr id="2" name="Picture 1">
              <a:extLst>
                <a:ext uri="{FF2B5EF4-FFF2-40B4-BE49-F238E27FC236}">
                  <a16:creationId xmlns:a16="http://schemas.microsoft.com/office/drawing/2014/main" id="{1D667FF3-FB47-081A-DF70-D3482D17D2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67790" y="492462"/>
              <a:ext cx="3940822" cy="5997797"/>
            </a:xfrm>
            <a:prstGeom prst="rect">
              <a:avLst/>
            </a:prstGeom>
          </p:spPr>
        </p:pic>
        <p:pic>
          <p:nvPicPr>
            <p:cNvPr id="2050" name="Picture 2" descr="Free photo close up picture of hand holding planting the seed of the plant">
              <a:extLst>
                <a:ext uri="{FF2B5EF4-FFF2-40B4-BE49-F238E27FC236}">
                  <a16:creationId xmlns:a16="http://schemas.microsoft.com/office/drawing/2014/main" id="{92441466-B419-1B23-A441-92313E1134F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238989" y="1512473"/>
              <a:ext cx="1997530" cy="1745773"/>
            </a:xfrm>
            <a:prstGeom prst="rect">
              <a:avLst/>
            </a:prstGeom>
            <a:noFill/>
            <a:ln w="98425">
              <a:solidFill>
                <a:schemeClr val="bg1"/>
              </a:solidFill>
            </a:ln>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7987CF61-6C06-F8F7-3D09-D5E0F5F35D23}"/>
              </a:ext>
            </a:extLst>
          </p:cNvPr>
          <p:cNvSpPr txBox="1"/>
          <p:nvPr/>
        </p:nvSpPr>
        <p:spPr>
          <a:xfrm>
            <a:off x="4519983" y="512293"/>
            <a:ext cx="3639138" cy="830997"/>
          </a:xfrm>
          <a:prstGeom prst="rect">
            <a:avLst/>
          </a:prstGeom>
          <a:noFill/>
        </p:spPr>
        <p:txBody>
          <a:bodyPr wrap="none" rtlCol="0">
            <a:spAutoFit/>
          </a:bodyPr>
          <a:lstStyle/>
          <a:p>
            <a:pPr algn="r"/>
            <a:r>
              <a:rPr lang="en-US" sz="4800" b="1" dirty="0">
                <a:solidFill>
                  <a:schemeClr val="accent6">
                    <a:lumMod val="75000"/>
                  </a:schemeClr>
                </a:solidFill>
                <a:latin typeface="Times New Roman" panose="02020603050405020304" pitchFamily="18" charset="0"/>
                <a:cs typeface="Times New Roman" panose="02020603050405020304" pitchFamily="18" charset="0"/>
              </a:rPr>
              <a:t>Methodology</a:t>
            </a:r>
            <a:endParaRPr lang="en-IN" sz="4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775308E-8154-3849-EBD1-B7963E51F7C4}"/>
              </a:ext>
            </a:extLst>
          </p:cNvPr>
          <p:cNvSpPr txBox="1"/>
          <p:nvPr/>
        </p:nvSpPr>
        <p:spPr>
          <a:xfrm>
            <a:off x="5550764" y="1429440"/>
            <a:ext cx="6167244" cy="523220"/>
          </a:xfrm>
          <a:prstGeom prst="rect">
            <a:avLst/>
          </a:prstGeom>
          <a:noFill/>
        </p:spPr>
        <p:txBody>
          <a:bodyPr wrap="square">
            <a:spAutoFit/>
          </a:bodyPr>
          <a:lstStyle/>
          <a:p>
            <a:pPr algn="just"/>
            <a:r>
              <a:rPr lang="en-IN" sz="1400" b="1" dirty="0">
                <a:latin typeface="Times New Roman" panose="02020603050405020304" pitchFamily="18" charset="0"/>
                <a:ea typeface="Tahoma" panose="020B0604030504040204" pitchFamily="34" charset="0"/>
                <a:cs typeface="Times New Roman" panose="02020603050405020304" pitchFamily="18" charset="0"/>
              </a:rPr>
              <a:t>User Registration &amp; Verification</a:t>
            </a:r>
            <a:r>
              <a:rPr lang="en-IN" sz="1400" dirty="0">
                <a:latin typeface="Times New Roman" panose="02020603050405020304" pitchFamily="18" charset="0"/>
                <a:ea typeface="Tahoma" panose="020B0604030504040204" pitchFamily="34" charset="0"/>
                <a:cs typeface="Times New Roman" panose="02020603050405020304" pitchFamily="18" charset="0"/>
              </a:rPr>
              <a:t>: Farmers register with hashed passwords stored in MySQL. Admin verifies registrations via a dashboard.</a:t>
            </a:r>
          </a:p>
        </p:txBody>
      </p:sp>
      <p:sp>
        <p:nvSpPr>
          <p:cNvPr id="28" name="TextBox 27">
            <a:extLst>
              <a:ext uri="{FF2B5EF4-FFF2-40B4-BE49-F238E27FC236}">
                <a16:creationId xmlns:a16="http://schemas.microsoft.com/office/drawing/2014/main" id="{746FF4ED-C154-D407-9A45-ACDE26A37101}"/>
              </a:ext>
            </a:extLst>
          </p:cNvPr>
          <p:cNvSpPr txBox="1"/>
          <p:nvPr/>
        </p:nvSpPr>
        <p:spPr>
          <a:xfrm>
            <a:off x="5550764" y="1986452"/>
            <a:ext cx="6329982" cy="1384995"/>
          </a:xfrm>
          <a:prstGeom prst="rect">
            <a:avLst/>
          </a:prstGeom>
          <a:noFill/>
        </p:spPr>
        <p:txBody>
          <a:bodyPr wrap="square">
            <a:spAutoFit/>
          </a:bodyPr>
          <a:lstStyle/>
          <a:p>
            <a:pPr algn="just"/>
            <a:r>
              <a:rPr lang="en-IN" sz="1400" b="1" dirty="0">
                <a:latin typeface="Times New Roman" panose="02020603050405020304" pitchFamily="18" charset="0"/>
                <a:ea typeface="Tahoma" panose="020B0604030504040204" pitchFamily="34" charset="0"/>
                <a:cs typeface="Times New Roman" panose="02020603050405020304" pitchFamily="18" charset="0"/>
              </a:rPr>
              <a:t>Farmer Portal</a:t>
            </a:r>
            <a:r>
              <a:rPr lang="en-IN" sz="1400" dirty="0">
                <a:latin typeface="Times New Roman" panose="02020603050405020304" pitchFamily="18" charset="0"/>
                <a:ea typeface="Tahoma" panose="020B0604030504040204" pitchFamily="34" charset="0"/>
                <a:cs typeface="Times New Roman" panose="02020603050405020304" pitchFamily="18" charset="0"/>
              </a:rPr>
              <a:t>: </a:t>
            </a:r>
            <a:r>
              <a:rPr lang="en-IN" sz="1400" b="1" dirty="0">
                <a:latin typeface="Times New Roman" panose="02020603050405020304" pitchFamily="18" charset="0"/>
                <a:ea typeface="Tahoma" panose="020B0604030504040204" pitchFamily="34" charset="0"/>
                <a:cs typeface="Times New Roman" panose="02020603050405020304" pitchFamily="18" charset="0"/>
              </a:rPr>
              <a:t>Home &amp; Dashboards</a:t>
            </a:r>
            <a:r>
              <a:rPr lang="en-IN" sz="1400" dirty="0">
                <a:latin typeface="Times New Roman" panose="02020603050405020304" pitchFamily="18" charset="0"/>
                <a:ea typeface="Tahoma" panose="020B0604030504040204" pitchFamily="34" charset="0"/>
                <a:cs typeface="Times New Roman" panose="02020603050405020304" pitchFamily="18" charset="0"/>
              </a:rPr>
              <a:t> Central access to crop recommendations, fertilizer suggestions, yield prediction, and disease detection. </a:t>
            </a:r>
            <a:r>
              <a:rPr lang="en-IN" sz="1400" b="1" dirty="0">
                <a:latin typeface="Times New Roman" panose="02020603050405020304" pitchFamily="18" charset="0"/>
                <a:ea typeface="Tahoma" panose="020B0604030504040204" pitchFamily="34" charset="0"/>
                <a:cs typeface="Times New Roman" panose="02020603050405020304" pitchFamily="18" charset="0"/>
              </a:rPr>
              <a:t>Crop Recommendation</a:t>
            </a:r>
            <a:r>
              <a:rPr lang="en-IN" sz="1400" dirty="0">
                <a:latin typeface="Times New Roman" panose="02020603050405020304" pitchFamily="18" charset="0"/>
                <a:ea typeface="Tahoma" panose="020B0604030504040204" pitchFamily="34" charset="0"/>
                <a:cs typeface="Times New Roman" panose="02020603050405020304" pitchFamily="18" charset="0"/>
              </a:rPr>
              <a:t> Farmers input parameters (N, P, K, temperature, humidity, pH, rainfall) for crop suggestions via ML models. </a:t>
            </a:r>
            <a:r>
              <a:rPr lang="en-IN" sz="1400" b="1" dirty="0">
                <a:latin typeface="Times New Roman" panose="02020603050405020304" pitchFamily="18" charset="0"/>
                <a:ea typeface="Tahoma" panose="020B0604030504040204" pitchFamily="34" charset="0"/>
                <a:cs typeface="Times New Roman" panose="02020603050405020304" pitchFamily="18" charset="0"/>
              </a:rPr>
              <a:t>Fertilizer Recommendation</a:t>
            </a:r>
            <a:r>
              <a:rPr lang="en-IN" sz="1400" dirty="0">
                <a:latin typeface="Times New Roman" panose="02020603050405020304" pitchFamily="18" charset="0"/>
                <a:ea typeface="Tahoma" panose="020B0604030504040204" pitchFamily="34" charset="0"/>
                <a:cs typeface="Times New Roman" panose="02020603050405020304" pitchFamily="18" charset="0"/>
              </a:rPr>
              <a:t> Multiple classifiers process soil and crop data (N, P, K, temperature, humidity, moisture, crop type, soil type) for optimal fertilizer suggestions.</a:t>
            </a:r>
          </a:p>
        </p:txBody>
      </p:sp>
      <p:sp>
        <p:nvSpPr>
          <p:cNvPr id="30" name="TextBox 29">
            <a:extLst>
              <a:ext uri="{FF2B5EF4-FFF2-40B4-BE49-F238E27FC236}">
                <a16:creationId xmlns:a16="http://schemas.microsoft.com/office/drawing/2014/main" id="{16EB20FC-C3A3-6677-09A4-439AA2737355}"/>
              </a:ext>
            </a:extLst>
          </p:cNvPr>
          <p:cNvSpPr txBox="1"/>
          <p:nvPr/>
        </p:nvSpPr>
        <p:spPr>
          <a:xfrm>
            <a:off x="4519983" y="3431489"/>
            <a:ext cx="6482996" cy="1169551"/>
          </a:xfrm>
          <a:prstGeom prst="rect">
            <a:avLst/>
          </a:prstGeom>
          <a:noFill/>
        </p:spPr>
        <p:txBody>
          <a:bodyPr wrap="square">
            <a:spAutoFit/>
          </a:bodyPr>
          <a:lstStyle/>
          <a:p>
            <a:pPr algn="just"/>
            <a:r>
              <a:rPr lang="en-IN" sz="1400" b="1" dirty="0">
                <a:latin typeface="Times New Roman" panose="02020603050405020304" pitchFamily="18" charset="0"/>
                <a:ea typeface="Tahoma" panose="020B0604030504040204" pitchFamily="34" charset="0"/>
                <a:cs typeface="Times New Roman" panose="02020603050405020304" pitchFamily="18" charset="0"/>
              </a:rPr>
              <a:t>Disease Detection </a:t>
            </a:r>
            <a:r>
              <a:rPr lang="en-IN" sz="1400" dirty="0">
                <a:latin typeface="Times New Roman" panose="02020603050405020304" pitchFamily="18" charset="0"/>
                <a:ea typeface="Tahoma" panose="020B0604030504040204" pitchFamily="34" charset="0"/>
                <a:cs typeface="Times New Roman" panose="02020603050405020304" pitchFamily="18" charset="0"/>
              </a:rPr>
              <a:t>Crop images are </a:t>
            </a:r>
            <a:r>
              <a:rPr lang="en-IN" sz="1400" dirty="0" err="1">
                <a:latin typeface="Times New Roman" panose="02020603050405020304" pitchFamily="18" charset="0"/>
                <a:ea typeface="Tahoma" panose="020B0604030504040204" pitchFamily="34" charset="0"/>
                <a:cs typeface="Times New Roman" panose="02020603050405020304" pitchFamily="18" charset="0"/>
              </a:rPr>
              <a:t>analyzed</a:t>
            </a:r>
            <a:r>
              <a:rPr lang="en-IN" sz="1400" dirty="0">
                <a:latin typeface="Times New Roman" panose="02020603050405020304" pitchFamily="18" charset="0"/>
                <a:ea typeface="Tahoma" panose="020B0604030504040204" pitchFamily="34" charset="0"/>
                <a:cs typeface="Times New Roman" panose="02020603050405020304" pitchFamily="18" charset="0"/>
              </a:rPr>
              <a:t> by a CNN to classify diseases and recommend treatments. </a:t>
            </a:r>
            <a:r>
              <a:rPr lang="en-IN" sz="1400" b="1" dirty="0">
                <a:latin typeface="Times New Roman" panose="02020603050405020304" pitchFamily="18" charset="0"/>
                <a:ea typeface="Tahoma" panose="020B0604030504040204" pitchFamily="34" charset="0"/>
                <a:cs typeface="Times New Roman" panose="02020603050405020304" pitchFamily="18" charset="0"/>
              </a:rPr>
              <a:t>Yield Prediction</a:t>
            </a:r>
            <a:r>
              <a:rPr lang="en-IN" sz="1400" dirty="0">
                <a:latin typeface="Times New Roman" panose="02020603050405020304" pitchFamily="18" charset="0"/>
                <a:ea typeface="Tahoma" panose="020B0604030504040204" pitchFamily="34" charset="0"/>
                <a:cs typeface="Times New Roman" panose="02020603050405020304" pitchFamily="18" charset="0"/>
              </a:rPr>
              <a:t> An </a:t>
            </a:r>
            <a:r>
              <a:rPr lang="en-IN" sz="1400" dirty="0" err="1">
                <a:latin typeface="Times New Roman" panose="02020603050405020304" pitchFamily="18" charset="0"/>
                <a:ea typeface="Tahoma" panose="020B0604030504040204" pitchFamily="34" charset="0"/>
                <a:cs typeface="Times New Roman" panose="02020603050405020304" pitchFamily="18" charset="0"/>
              </a:rPr>
              <a:t>MLPnCNN</a:t>
            </a:r>
            <a:r>
              <a:rPr lang="en-IN" sz="1400" dirty="0">
                <a:latin typeface="Times New Roman" panose="02020603050405020304" pitchFamily="18" charset="0"/>
                <a:ea typeface="Tahoma" panose="020B0604030504040204" pitchFamily="34" charset="0"/>
                <a:cs typeface="Times New Roman" panose="02020603050405020304" pitchFamily="18" charset="0"/>
              </a:rPr>
              <a:t> model forecasts yields using historical and environmental data. </a:t>
            </a:r>
            <a:r>
              <a:rPr lang="en-IN" sz="1400" b="1" dirty="0">
                <a:latin typeface="Times New Roman" panose="02020603050405020304" pitchFamily="18" charset="0"/>
                <a:ea typeface="Tahoma" panose="020B0604030504040204" pitchFamily="34" charset="0"/>
                <a:cs typeface="Times New Roman" panose="02020603050405020304" pitchFamily="18" charset="0"/>
              </a:rPr>
              <a:t>Supplement Store &amp; Activity Reports</a:t>
            </a:r>
            <a:r>
              <a:rPr lang="en-IN" sz="1400" dirty="0">
                <a:latin typeface="Times New Roman" panose="02020603050405020304" pitchFamily="18" charset="0"/>
                <a:ea typeface="Tahoma" panose="020B0604030504040204" pitchFamily="34" charset="0"/>
                <a:cs typeface="Times New Roman" panose="02020603050405020304" pitchFamily="18" charset="0"/>
              </a:rPr>
              <a:t> Features for purchasing supplements and downloading detailed reports. </a:t>
            </a:r>
            <a:r>
              <a:rPr lang="en-IN" sz="1400" b="1" dirty="0">
                <a:latin typeface="Times New Roman" panose="02020603050405020304" pitchFamily="18" charset="0"/>
                <a:ea typeface="Tahoma" panose="020B0604030504040204" pitchFamily="34" charset="0"/>
                <a:cs typeface="Times New Roman" panose="02020603050405020304" pitchFamily="18" charset="0"/>
              </a:rPr>
              <a:t>Multilingual Support </a:t>
            </a:r>
            <a:r>
              <a:rPr lang="en-IN" sz="1400" dirty="0">
                <a:latin typeface="Times New Roman" panose="02020603050405020304" pitchFamily="18" charset="0"/>
                <a:ea typeface="Tahoma" panose="020B0604030504040204" pitchFamily="34" charset="0"/>
                <a:cs typeface="Times New Roman" panose="02020603050405020304" pitchFamily="18" charset="0"/>
              </a:rPr>
              <a:t>Google Translate API integration for regional language access.</a:t>
            </a:r>
            <a:endParaRPr lang="en-IN" sz="1400" dirty="0"/>
          </a:p>
        </p:txBody>
      </p:sp>
      <p:sp>
        <p:nvSpPr>
          <p:cNvPr id="32" name="TextBox 31">
            <a:extLst>
              <a:ext uri="{FF2B5EF4-FFF2-40B4-BE49-F238E27FC236}">
                <a16:creationId xmlns:a16="http://schemas.microsoft.com/office/drawing/2014/main" id="{0EA01DED-6B9D-58D9-1EEC-42859A071BCD}"/>
              </a:ext>
            </a:extLst>
          </p:cNvPr>
          <p:cNvSpPr txBox="1"/>
          <p:nvPr/>
        </p:nvSpPr>
        <p:spPr>
          <a:xfrm>
            <a:off x="4519983" y="4668624"/>
            <a:ext cx="6130083" cy="523220"/>
          </a:xfrm>
          <a:prstGeom prst="rect">
            <a:avLst/>
          </a:prstGeom>
          <a:noFill/>
        </p:spPr>
        <p:txBody>
          <a:bodyPr wrap="square">
            <a:spAutoFit/>
          </a:bodyPr>
          <a:lstStyle/>
          <a:p>
            <a:r>
              <a:rPr lang="en-IN" sz="1400" b="1" dirty="0">
                <a:latin typeface="Times New Roman" panose="02020603050405020304" pitchFamily="18" charset="0"/>
                <a:ea typeface="Tahoma" panose="020B0604030504040204" pitchFamily="34" charset="0"/>
                <a:cs typeface="Times New Roman" panose="02020603050405020304" pitchFamily="18" charset="0"/>
              </a:rPr>
              <a:t>Admin Dashboard</a:t>
            </a:r>
            <a:r>
              <a:rPr lang="en-IN" sz="1400" dirty="0">
                <a:latin typeface="Times New Roman" panose="02020603050405020304" pitchFamily="18" charset="0"/>
                <a:ea typeface="Tahoma" panose="020B0604030504040204" pitchFamily="34" charset="0"/>
                <a:cs typeface="Times New Roman" panose="02020603050405020304" pitchFamily="18" charset="0"/>
              </a:rPr>
              <a:t>: Provides CRUD operations and verifies farmer registrations, ensuring data integrity</a:t>
            </a:r>
            <a:endParaRPr lang="en-IN" sz="1400" dirty="0"/>
          </a:p>
        </p:txBody>
      </p:sp>
      <p:sp>
        <p:nvSpPr>
          <p:cNvPr id="36" name="TextBox 35">
            <a:extLst>
              <a:ext uri="{FF2B5EF4-FFF2-40B4-BE49-F238E27FC236}">
                <a16:creationId xmlns:a16="http://schemas.microsoft.com/office/drawing/2014/main" id="{33CCF9A2-C6F9-2395-057D-C6FDCAE0466C}"/>
              </a:ext>
            </a:extLst>
          </p:cNvPr>
          <p:cNvSpPr txBox="1"/>
          <p:nvPr/>
        </p:nvSpPr>
        <p:spPr>
          <a:xfrm>
            <a:off x="4561328" y="5740666"/>
            <a:ext cx="6747842" cy="738664"/>
          </a:xfrm>
          <a:prstGeom prst="rect">
            <a:avLst/>
          </a:prstGeom>
          <a:noFill/>
        </p:spPr>
        <p:txBody>
          <a:bodyPr wrap="square">
            <a:spAutoFit/>
          </a:bodyPr>
          <a:lstStyle/>
          <a:p>
            <a:pPr algn="just"/>
            <a:r>
              <a:rPr lang="en-IN" sz="1400" b="1" dirty="0">
                <a:latin typeface="Times New Roman" panose="02020603050405020304" pitchFamily="18" charset="0"/>
                <a:ea typeface="Tahoma" panose="020B0604030504040204" pitchFamily="34" charset="0"/>
                <a:cs typeface="Times New Roman" panose="02020603050405020304" pitchFamily="18" charset="0"/>
              </a:rPr>
              <a:t>Model Training &amp; Evaluation</a:t>
            </a:r>
            <a:r>
              <a:rPr lang="en-IN" sz="1400" dirty="0">
                <a:latin typeface="Times New Roman" panose="02020603050405020304" pitchFamily="18" charset="0"/>
                <a:ea typeface="Tahoma" panose="020B0604030504040204" pitchFamily="34" charset="0"/>
                <a:cs typeface="Times New Roman" panose="02020603050405020304" pitchFamily="18" charset="0"/>
              </a:rPr>
              <a:t> Models assessed using AUC, accuracy, F1 score, precision, MSE, and MAE. </a:t>
            </a:r>
            <a:r>
              <a:rPr lang="en-IN" sz="1400" b="1" dirty="0">
                <a:latin typeface="Times New Roman" panose="02020603050405020304" pitchFamily="18" charset="0"/>
                <a:ea typeface="Tahoma" panose="020B0604030504040204" pitchFamily="34" charset="0"/>
                <a:cs typeface="Times New Roman" panose="02020603050405020304" pitchFamily="18" charset="0"/>
              </a:rPr>
              <a:t>Deployment</a:t>
            </a:r>
            <a:r>
              <a:rPr lang="en-IN" sz="1400" dirty="0">
                <a:latin typeface="Times New Roman" panose="02020603050405020304" pitchFamily="18" charset="0"/>
                <a:ea typeface="Tahoma" panose="020B0604030504040204" pitchFamily="34" charset="0"/>
                <a:cs typeface="Times New Roman" panose="02020603050405020304" pitchFamily="18" charset="0"/>
              </a:rPr>
              <a:t> Trained models are saved as pipelines and seamlessly integrated with the Flask application.</a:t>
            </a:r>
          </a:p>
        </p:txBody>
      </p:sp>
      <p:sp>
        <p:nvSpPr>
          <p:cNvPr id="37" name="TextBox 36">
            <a:extLst>
              <a:ext uri="{FF2B5EF4-FFF2-40B4-BE49-F238E27FC236}">
                <a16:creationId xmlns:a16="http://schemas.microsoft.com/office/drawing/2014/main" id="{639FB862-6240-872B-A7A7-ADBEF6DF6855}"/>
              </a:ext>
            </a:extLst>
          </p:cNvPr>
          <p:cNvSpPr txBox="1"/>
          <p:nvPr/>
        </p:nvSpPr>
        <p:spPr>
          <a:xfrm>
            <a:off x="4519984" y="5226787"/>
            <a:ext cx="6482996" cy="523220"/>
          </a:xfrm>
          <a:prstGeom prst="rect">
            <a:avLst/>
          </a:prstGeom>
          <a:noFill/>
        </p:spPr>
        <p:txBody>
          <a:bodyPr wrap="square">
            <a:spAutoFit/>
          </a:bodyPr>
          <a:lstStyle/>
          <a:p>
            <a:pPr algn="just"/>
            <a:r>
              <a:rPr lang="en-IN" sz="1400" b="1" dirty="0">
                <a:latin typeface="Times New Roman" panose="02020603050405020304" pitchFamily="18" charset="0"/>
                <a:ea typeface="Tahoma" panose="020B0604030504040204" pitchFamily="34" charset="0"/>
                <a:cs typeface="Times New Roman" panose="02020603050405020304" pitchFamily="18" charset="0"/>
              </a:rPr>
              <a:t>Machine Learning Pipeline</a:t>
            </a:r>
            <a:r>
              <a:rPr lang="en-IN" sz="1400" dirty="0">
                <a:latin typeface="Times New Roman" panose="02020603050405020304" pitchFamily="18" charset="0"/>
                <a:ea typeface="Tahoma" panose="020B0604030504040204" pitchFamily="34" charset="0"/>
                <a:cs typeface="Times New Roman" panose="02020603050405020304" pitchFamily="18" charset="0"/>
              </a:rPr>
              <a:t>: </a:t>
            </a:r>
            <a:r>
              <a:rPr lang="en-IN" sz="1400" b="1" dirty="0">
                <a:latin typeface="Times New Roman" panose="02020603050405020304" pitchFamily="18" charset="0"/>
                <a:ea typeface="Tahoma" panose="020B0604030504040204" pitchFamily="34" charset="0"/>
                <a:cs typeface="Times New Roman" panose="02020603050405020304" pitchFamily="18" charset="0"/>
              </a:rPr>
              <a:t>Data Preprocessing</a:t>
            </a:r>
            <a:r>
              <a:rPr lang="en-IN" sz="1400" dirty="0">
                <a:latin typeface="Times New Roman" panose="02020603050405020304" pitchFamily="18" charset="0"/>
                <a:ea typeface="Tahoma" panose="020B0604030504040204" pitchFamily="34" charset="0"/>
                <a:cs typeface="Times New Roman" panose="02020603050405020304" pitchFamily="18" charset="0"/>
              </a:rPr>
              <a:t> Uniform categorical encoding and scaling.</a:t>
            </a:r>
          </a:p>
        </p:txBody>
      </p:sp>
    </p:spTree>
    <p:extLst>
      <p:ext uri="{BB962C8B-B14F-4D97-AF65-F5344CB8AC3E}">
        <p14:creationId xmlns:p14="http://schemas.microsoft.com/office/powerpoint/2010/main" val="3493842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2D1347-9E97-335E-4C47-DC69C2D43772}"/>
              </a:ext>
            </a:extLst>
          </p:cNvPr>
          <p:cNvSpPr/>
          <p:nvPr/>
        </p:nvSpPr>
        <p:spPr>
          <a:xfrm>
            <a:off x="405114" y="358815"/>
            <a:ext cx="11447362" cy="6123008"/>
          </a:xfrm>
          <a:prstGeom prst="rect">
            <a:avLst/>
          </a:prstGeom>
          <a:noFill/>
          <a:ln w="412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9BEAEA-4C61-43E7-DA2D-1EA37C5C4F6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0590" y="-263580"/>
            <a:ext cx="1424154" cy="1279513"/>
          </a:xfrm>
          <a:prstGeom prst="rect">
            <a:avLst/>
          </a:prstGeom>
        </p:spPr>
      </p:pic>
      <p:pic>
        <p:nvPicPr>
          <p:cNvPr id="18" name="Picture 17">
            <a:extLst>
              <a:ext uri="{FF2B5EF4-FFF2-40B4-BE49-F238E27FC236}">
                <a16:creationId xmlns:a16="http://schemas.microsoft.com/office/drawing/2014/main" id="{FAFD9ED3-445E-D531-4FBB-3080690546E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074809" y="5715282"/>
            <a:ext cx="1424154" cy="1279513"/>
          </a:xfrm>
          <a:prstGeom prst="rect">
            <a:avLst/>
          </a:prstGeom>
        </p:spPr>
      </p:pic>
      <p:sp>
        <p:nvSpPr>
          <p:cNvPr id="8" name="Rectangle 7">
            <a:extLst>
              <a:ext uri="{FF2B5EF4-FFF2-40B4-BE49-F238E27FC236}">
                <a16:creationId xmlns:a16="http://schemas.microsoft.com/office/drawing/2014/main" id="{C798B5FA-FCF7-F227-EB75-11D5C29D85E1}"/>
              </a:ext>
            </a:extLst>
          </p:cNvPr>
          <p:cNvSpPr/>
          <p:nvPr/>
        </p:nvSpPr>
        <p:spPr>
          <a:xfrm>
            <a:off x="9098085" y="381015"/>
            <a:ext cx="2754391" cy="240343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picture containing sky, outdoor, cloud, grass&#10;&#10;Description automatically generated">
            <a:extLst>
              <a:ext uri="{FF2B5EF4-FFF2-40B4-BE49-F238E27FC236}">
                <a16:creationId xmlns:a16="http://schemas.microsoft.com/office/drawing/2014/main" id="{ED159840-09A5-660A-8C13-023481A9112B}"/>
              </a:ext>
            </a:extLst>
          </p:cNvPr>
          <p:cNvPicPr>
            <a:picLocks noChangeAspect="1"/>
          </p:cNvPicPr>
          <p:nvPr/>
        </p:nvPicPr>
        <p:blipFill>
          <a:blip r:embed="rId3">
            <a:extLst>
              <a:ext uri="{28A0092B-C50C-407E-A947-70E740481C1C}">
                <a14:useLocalDpi xmlns:a14="http://schemas.microsoft.com/office/drawing/2010/main" val="0"/>
              </a:ext>
            </a:extLst>
          </a:blip>
          <a:srcRect l="5052" t="3045" r="3833" b="3045"/>
          <a:stretch>
            <a:fillRect/>
          </a:stretch>
        </p:blipFill>
        <p:spPr>
          <a:xfrm>
            <a:off x="6883217" y="1015933"/>
            <a:ext cx="4969259" cy="3411021"/>
          </a:xfrm>
          <a:custGeom>
            <a:avLst/>
            <a:gdLst>
              <a:gd name="connsiteX0" fmla="*/ 404319 w 6642100"/>
              <a:gd name="connsiteY0" fmla="*/ 0 h 4559300"/>
              <a:gd name="connsiteX1" fmla="*/ 6237781 w 6642100"/>
              <a:gd name="connsiteY1" fmla="*/ 0 h 4559300"/>
              <a:gd name="connsiteX2" fmla="*/ 6642100 w 6642100"/>
              <a:gd name="connsiteY2" fmla="*/ 404319 h 4559300"/>
              <a:gd name="connsiteX3" fmla="*/ 6642100 w 6642100"/>
              <a:gd name="connsiteY3" fmla="*/ 4154981 h 4559300"/>
              <a:gd name="connsiteX4" fmla="*/ 6237781 w 6642100"/>
              <a:gd name="connsiteY4" fmla="*/ 4559300 h 4559300"/>
              <a:gd name="connsiteX5" fmla="*/ 404319 w 6642100"/>
              <a:gd name="connsiteY5" fmla="*/ 4559300 h 4559300"/>
              <a:gd name="connsiteX6" fmla="*/ 0 w 6642100"/>
              <a:gd name="connsiteY6" fmla="*/ 4154981 h 4559300"/>
              <a:gd name="connsiteX7" fmla="*/ 0 w 6642100"/>
              <a:gd name="connsiteY7" fmla="*/ 404319 h 4559300"/>
              <a:gd name="connsiteX8" fmla="*/ 404319 w 6642100"/>
              <a:gd name="connsiteY8" fmla="*/ 0 h 455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2100" h="4559300">
                <a:moveTo>
                  <a:pt x="404319" y="0"/>
                </a:moveTo>
                <a:lnTo>
                  <a:pt x="6237781" y="0"/>
                </a:lnTo>
                <a:cubicBezTo>
                  <a:pt x="6461080" y="0"/>
                  <a:pt x="6642100" y="181020"/>
                  <a:pt x="6642100" y="404319"/>
                </a:cubicBezTo>
                <a:lnTo>
                  <a:pt x="6642100" y="4154981"/>
                </a:lnTo>
                <a:cubicBezTo>
                  <a:pt x="6642100" y="4378280"/>
                  <a:pt x="6461080" y="4559300"/>
                  <a:pt x="6237781" y="4559300"/>
                </a:cubicBezTo>
                <a:lnTo>
                  <a:pt x="404319" y="4559300"/>
                </a:lnTo>
                <a:cubicBezTo>
                  <a:pt x="181020" y="4559300"/>
                  <a:pt x="0" y="4378280"/>
                  <a:pt x="0" y="4154981"/>
                </a:cubicBezTo>
                <a:lnTo>
                  <a:pt x="0" y="404319"/>
                </a:lnTo>
                <a:cubicBezTo>
                  <a:pt x="0" y="181020"/>
                  <a:pt x="181020" y="0"/>
                  <a:pt x="404319" y="0"/>
                </a:cubicBezTo>
                <a:close/>
              </a:path>
            </a:pathLst>
          </a:custGeom>
        </p:spPr>
      </p:pic>
      <p:pic>
        <p:nvPicPr>
          <p:cNvPr id="13" name="Picture 12" descr="A person holding a plant&#10;&#10;Description automatically generated with low confidence">
            <a:extLst>
              <a:ext uri="{FF2B5EF4-FFF2-40B4-BE49-F238E27FC236}">
                <a16:creationId xmlns:a16="http://schemas.microsoft.com/office/drawing/2014/main" id="{B6587CFD-6EE8-43AA-B855-20379744F68F}"/>
              </a:ext>
            </a:extLst>
          </p:cNvPr>
          <p:cNvPicPr>
            <a:picLocks noChangeAspect="1"/>
          </p:cNvPicPr>
          <p:nvPr/>
        </p:nvPicPr>
        <p:blipFill>
          <a:blip r:embed="rId4">
            <a:extLst>
              <a:ext uri="{28A0092B-C50C-407E-A947-70E740481C1C}">
                <a14:useLocalDpi xmlns:a14="http://schemas.microsoft.com/office/drawing/2010/main" val="0"/>
              </a:ext>
            </a:extLst>
          </a:blip>
          <a:srcRect l="1167" t="21414" r="49467" b="4573"/>
          <a:stretch>
            <a:fillRect/>
          </a:stretch>
        </p:blipFill>
        <p:spPr>
          <a:xfrm>
            <a:off x="9033942" y="3219452"/>
            <a:ext cx="2415004" cy="2415004"/>
          </a:xfrm>
          <a:custGeom>
            <a:avLst/>
            <a:gdLst>
              <a:gd name="connsiteX0" fmla="*/ 2351087 w 4702174"/>
              <a:gd name="connsiteY0" fmla="*/ 0 h 4702174"/>
              <a:gd name="connsiteX1" fmla="*/ 4702174 w 4702174"/>
              <a:gd name="connsiteY1" fmla="*/ 2351087 h 4702174"/>
              <a:gd name="connsiteX2" fmla="*/ 2351087 w 4702174"/>
              <a:gd name="connsiteY2" fmla="*/ 4702174 h 4702174"/>
              <a:gd name="connsiteX3" fmla="*/ 0 w 4702174"/>
              <a:gd name="connsiteY3" fmla="*/ 2351087 h 4702174"/>
              <a:gd name="connsiteX4" fmla="*/ 2351087 w 4702174"/>
              <a:gd name="connsiteY4" fmla="*/ 0 h 470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2174" h="4702174">
                <a:moveTo>
                  <a:pt x="2351087" y="0"/>
                </a:moveTo>
                <a:cubicBezTo>
                  <a:pt x="3649556" y="0"/>
                  <a:pt x="4702174" y="1052618"/>
                  <a:pt x="4702174" y="2351087"/>
                </a:cubicBezTo>
                <a:cubicBezTo>
                  <a:pt x="4702174" y="3649556"/>
                  <a:pt x="3649556" y="4702174"/>
                  <a:pt x="2351087" y="4702174"/>
                </a:cubicBezTo>
                <a:cubicBezTo>
                  <a:pt x="1052618" y="4702174"/>
                  <a:pt x="0" y="3649556"/>
                  <a:pt x="0" y="2351087"/>
                </a:cubicBezTo>
                <a:cubicBezTo>
                  <a:pt x="0" y="1052618"/>
                  <a:pt x="1052618" y="0"/>
                  <a:pt x="2351087" y="0"/>
                </a:cubicBezTo>
                <a:close/>
              </a:path>
            </a:pathLst>
          </a:custGeom>
          <a:ln w="50800">
            <a:solidFill>
              <a:schemeClr val="bg1"/>
            </a:solidFill>
          </a:ln>
          <a:effectLst>
            <a:outerShdw blurRad="63500" sx="102000" sy="102000" algn="ctr" rotWithShape="0">
              <a:prstClr val="black">
                <a:alpha val="15000"/>
              </a:prstClr>
            </a:outerShdw>
          </a:effectLst>
        </p:spPr>
      </p:pic>
      <p:sp>
        <p:nvSpPr>
          <p:cNvPr id="2" name="TextBox 1">
            <a:extLst>
              <a:ext uri="{FF2B5EF4-FFF2-40B4-BE49-F238E27FC236}">
                <a16:creationId xmlns:a16="http://schemas.microsoft.com/office/drawing/2014/main" id="{7987CF61-6C06-F8F7-3D09-D5E0F5F35D23}"/>
              </a:ext>
            </a:extLst>
          </p:cNvPr>
          <p:cNvSpPr txBox="1"/>
          <p:nvPr/>
        </p:nvSpPr>
        <p:spPr>
          <a:xfrm>
            <a:off x="2007493" y="813215"/>
            <a:ext cx="3127779" cy="830997"/>
          </a:xfrm>
          <a:prstGeom prst="rect">
            <a:avLst/>
          </a:prstGeom>
          <a:noFill/>
        </p:spPr>
        <p:txBody>
          <a:bodyPr wrap="none" rtlCol="0">
            <a:spAutoFit/>
          </a:bodyPr>
          <a:lstStyle/>
          <a:p>
            <a:pPr algn="r"/>
            <a:r>
              <a:rPr lang="en-IN" sz="4800" b="1" dirty="0">
                <a:solidFill>
                  <a:schemeClr val="accent6">
                    <a:lumMod val="75000"/>
                  </a:schemeClr>
                </a:solidFill>
                <a:latin typeface="Times New Roman" panose="02020603050405020304" pitchFamily="18" charset="0"/>
                <a:cs typeface="Times New Roman" panose="02020603050405020304" pitchFamily="18" charset="0"/>
              </a:rPr>
              <a:t>Conclusion</a:t>
            </a:r>
          </a:p>
        </p:txBody>
      </p:sp>
      <p:pic>
        <p:nvPicPr>
          <p:cNvPr id="10" name="Picture 9" descr="A green laurel wreath with black background&#10;&#10;Description automatically generated with low confidence">
            <a:extLst>
              <a:ext uri="{FF2B5EF4-FFF2-40B4-BE49-F238E27FC236}">
                <a16:creationId xmlns:a16="http://schemas.microsoft.com/office/drawing/2014/main" id="{6590A741-D962-F1E8-0B35-E87F21C81B04}"/>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rot="10800000">
            <a:off x="1722665" y="1593733"/>
            <a:ext cx="3553247" cy="3195255"/>
          </a:xfrm>
          <a:prstGeom prst="rect">
            <a:avLst/>
          </a:prstGeom>
        </p:spPr>
      </p:pic>
      <p:pic>
        <p:nvPicPr>
          <p:cNvPr id="11" name="Picture 10" descr="A green laurel wreath with black background&#10;&#10;Description automatically generated with low confidence">
            <a:extLst>
              <a:ext uri="{FF2B5EF4-FFF2-40B4-BE49-F238E27FC236}">
                <a16:creationId xmlns:a16="http://schemas.microsoft.com/office/drawing/2014/main" id="{2091865D-913F-2E07-4A88-CA46B61575A6}"/>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709362" y="3061596"/>
            <a:ext cx="3553247" cy="3195255"/>
          </a:xfrm>
          <a:prstGeom prst="rect">
            <a:avLst/>
          </a:prstGeom>
        </p:spPr>
      </p:pic>
      <p:sp>
        <p:nvSpPr>
          <p:cNvPr id="12" name="TextBox 11">
            <a:extLst>
              <a:ext uri="{FF2B5EF4-FFF2-40B4-BE49-F238E27FC236}">
                <a16:creationId xmlns:a16="http://schemas.microsoft.com/office/drawing/2014/main" id="{72A32511-C951-AD2F-76F1-EE13A498D3B5}"/>
              </a:ext>
            </a:extLst>
          </p:cNvPr>
          <p:cNvSpPr txBox="1"/>
          <p:nvPr/>
        </p:nvSpPr>
        <p:spPr>
          <a:xfrm>
            <a:off x="1350035" y="2341247"/>
            <a:ext cx="4442691" cy="3293209"/>
          </a:xfrm>
          <a:prstGeom prst="rect">
            <a:avLst/>
          </a:prstGeom>
          <a:noFill/>
        </p:spPr>
        <p:txBody>
          <a:bodyPr wrap="square">
            <a:spAutoFit/>
          </a:bodyPr>
          <a:lstStyle/>
          <a:p>
            <a:pPr algn="just"/>
            <a:r>
              <a:rPr lang="en-US" sz="1600" dirty="0" err="1">
                <a:solidFill>
                  <a:schemeClr val="bg2">
                    <a:lumMod val="10000"/>
                  </a:schemeClr>
                </a:solidFill>
                <a:latin typeface="Times New Roman" panose="02020603050405020304" pitchFamily="18" charset="0"/>
                <a:cs typeface="Times New Roman" panose="02020603050405020304" pitchFamily="18" charset="0"/>
              </a:rPr>
              <a:t>KrishiDisha</a:t>
            </a:r>
            <a:r>
              <a:rPr lang="en-US" sz="1600" dirty="0">
                <a:solidFill>
                  <a:schemeClr val="bg2">
                    <a:lumMod val="10000"/>
                  </a:schemeClr>
                </a:solidFill>
                <a:latin typeface="Times New Roman" panose="02020603050405020304" pitchFamily="18" charset="0"/>
                <a:cs typeface="Times New Roman" panose="02020603050405020304" pitchFamily="18" charset="0"/>
              </a:rPr>
              <a:t> demonstrates that an integrated approach—combining robust ML and DL models with an accessible web interface—can significantly enhance decision support for modern agriculture. Compared with existing research, our platform not only achieves competitive or superior performance on each individual module but also provides a unified ecosystem for farmers. Future work will focus on incorporating additional data sources (e.g., remote sensing) and further optimizing the deep learning architectures to address evolving challenges in precision agriculture.</a:t>
            </a:r>
          </a:p>
          <a:p>
            <a:pPr algn="just"/>
            <a:endParaRPr lang="en-US" sz="1600" dirty="0">
              <a:solidFill>
                <a:schemeClr val="bg2">
                  <a:lumMod val="10000"/>
                </a:schemeClr>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p:txBody>
      </p:sp>
    </p:spTree>
    <p:extLst>
      <p:ext uri="{BB962C8B-B14F-4D97-AF65-F5344CB8AC3E}">
        <p14:creationId xmlns:p14="http://schemas.microsoft.com/office/powerpoint/2010/main" val="2212326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D0496-A556-C86D-4600-DC35A160A0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4282A4-8186-FA7D-AF9B-1E0AEC5F7EA1}"/>
              </a:ext>
            </a:extLst>
          </p:cNvPr>
          <p:cNvSpPr/>
          <p:nvPr/>
        </p:nvSpPr>
        <p:spPr>
          <a:xfrm>
            <a:off x="405114" y="358815"/>
            <a:ext cx="11447362" cy="6123008"/>
          </a:xfrm>
          <a:prstGeom prst="rect">
            <a:avLst/>
          </a:prstGeom>
          <a:noFill/>
          <a:ln w="412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5A819A2-BF70-1400-8037-F1AF69C6D3E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flipH="1">
            <a:off x="10793683" y="-280942"/>
            <a:ext cx="1601472" cy="1274675"/>
          </a:xfrm>
          <a:prstGeom prst="rect">
            <a:avLst/>
          </a:prstGeom>
        </p:spPr>
      </p:pic>
      <p:pic>
        <p:nvPicPr>
          <p:cNvPr id="18" name="Picture 17">
            <a:extLst>
              <a:ext uri="{FF2B5EF4-FFF2-40B4-BE49-F238E27FC236}">
                <a16:creationId xmlns:a16="http://schemas.microsoft.com/office/drawing/2014/main" id="{90D602DA-0A7A-3397-74E2-1DB91D21AF8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flipH="1">
            <a:off x="-268995" y="5864267"/>
            <a:ext cx="1348217" cy="1279513"/>
          </a:xfrm>
          <a:prstGeom prst="rect">
            <a:avLst/>
          </a:prstGeom>
        </p:spPr>
      </p:pic>
      <p:sp>
        <p:nvSpPr>
          <p:cNvPr id="8" name="Rectangle 7">
            <a:extLst>
              <a:ext uri="{FF2B5EF4-FFF2-40B4-BE49-F238E27FC236}">
                <a16:creationId xmlns:a16="http://schemas.microsoft.com/office/drawing/2014/main" id="{84202932-D894-5511-A91C-4616BDEFFBB8}"/>
              </a:ext>
            </a:extLst>
          </p:cNvPr>
          <p:cNvSpPr/>
          <p:nvPr/>
        </p:nvSpPr>
        <p:spPr>
          <a:xfrm>
            <a:off x="405113" y="376177"/>
            <a:ext cx="2754391" cy="240343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picture containing sky, outdoor, cloud, grass&#10;&#10;Description automatically generated">
            <a:extLst>
              <a:ext uri="{FF2B5EF4-FFF2-40B4-BE49-F238E27FC236}">
                <a16:creationId xmlns:a16="http://schemas.microsoft.com/office/drawing/2014/main" id="{1A1C1DC3-4869-D42C-6296-CE8AE09396BA}"/>
              </a:ext>
            </a:extLst>
          </p:cNvPr>
          <p:cNvPicPr>
            <a:picLocks noChangeAspect="1"/>
          </p:cNvPicPr>
          <p:nvPr/>
        </p:nvPicPr>
        <p:blipFill>
          <a:blip r:embed="rId3">
            <a:extLst>
              <a:ext uri="{28A0092B-C50C-407E-A947-70E740481C1C}">
                <a14:useLocalDpi xmlns:a14="http://schemas.microsoft.com/office/drawing/2010/main" val="0"/>
              </a:ext>
            </a:extLst>
          </a:blip>
          <a:srcRect l="5052" t="3045" r="3833" b="3045"/>
          <a:stretch>
            <a:fillRect/>
          </a:stretch>
        </p:blipFill>
        <p:spPr>
          <a:xfrm flipH="1">
            <a:off x="689655" y="1074098"/>
            <a:ext cx="4939698" cy="3411021"/>
          </a:xfrm>
          <a:custGeom>
            <a:avLst/>
            <a:gdLst>
              <a:gd name="connsiteX0" fmla="*/ 404319 w 6642100"/>
              <a:gd name="connsiteY0" fmla="*/ 0 h 4559300"/>
              <a:gd name="connsiteX1" fmla="*/ 6237781 w 6642100"/>
              <a:gd name="connsiteY1" fmla="*/ 0 h 4559300"/>
              <a:gd name="connsiteX2" fmla="*/ 6642100 w 6642100"/>
              <a:gd name="connsiteY2" fmla="*/ 404319 h 4559300"/>
              <a:gd name="connsiteX3" fmla="*/ 6642100 w 6642100"/>
              <a:gd name="connsiteY3" fmla="*/ 4154981 h 4559300"/>
              <a:gd name="connsiteX4" fmla="*/ 6237781 w 6642100"/>
              <a:gd name="connsiteY4" fmla="*/ 4559300 h 4559300"/>
              <a:gd name="connsiteX5" fmla="*/ 404319 w 6642100"/>
              <a:gd name="connsiteY5" fmla="*/ 4559300 h 4559300"/>
              <a:gd name="connsiteX6" fmla="*/ 0 w 6642100"/>
              <a:gd name="connsiteY6" fmla="*/ 4154981 h 4559300"/>
              <a:gd name="connsiteX7" fmla="*/ 0 w 6642100"/>
              <a:gd name="connsiteY7" fmla="*/ 404319 h 4559300"/>
              <a:gd name="connsiteX8" fmla="*/ 404319 w 6642100"/>
              <a:gd name="connsiteY8" fmla="*/ 0 h 455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2100" h="4559300">
                <a:moveTo>
                  <a:pt x="404319" y="0"/>
                </a:moveTo>
                <a:lnTo>
                  <a:pt x="6237781" y="0"/>
                </a:lnTo>
                <a:cubicBezTo>
                  <a:pt x="6461080" y="0"/>
                  <a:pt x="6642100" y="181020"/>
                  <a:pt x="6642100" y="404319"/>
                </a:cubicBezTo>
                <a:lnTo>
                  <a:pt x="6642100" y="4154981"/>
                </a:lnTo>
                <a:cubicBezTo>
                  <a:pt x="6642100" y="4378280"/>
                  <a:pt x="6461080" y="4559300"/>
                  <a:pt x="6237781" y="4559300"/>
                </a:cubicBezTo>
                <a:lnTo>
                  <a:pt x="404319" y="4559300"/>
                </a:lnTo>
                <a:cubicBezTo>
                  <a:pt x="181020" y="4559300"/>
                  <a:pt x="0" y="4378280"/>
                  <a:pt x="0" y="4154981"/>
                </a:cubicBezTo>
                <a:lnTo>
                  <a:pt x="0" y="404319"/>
                </a:lnTo>
                <a:cubicBezTo>
                  <a:pt x="0" y="181020"/>
                  <a:pt x="181020" y="0"/>
                  <a:pt x="404319" y="0"/>
                </a:cubicBezTo>
                <a:close/>
              </a:path>
            </a:pathLst>
          </a:custGeom>
        </p:spPr>
      </p:pic>
      <p:pic>
        <p:nvPicPr>
          <p:cNvPr id="13" name="Picture 12" descr="A person holding a plant&#10;&#10;Description automatically generated with low confidence">
            <a:extLst>
              <a:ext uri="{FF2B5EF4-FFF2-40B4-BE49-F238E27FC236}">
                <a16:creationId xmlns:a16="http://schemas.microsoft.com/office/drawing/2014/main" id="{D0B5C2DA-A8CE-6A81-5CB5-3DCBD7FB91E1}"/>
              </a:ext>
            </a:extLst>
          </p:cNvPr>
          <p:cNvPicPr>
            <a:picLocks noChangeAspect="1"/>
          </p:cNvPicPr>
          <p:nvPr/>
        </p:nvPicPr>
        <p:blipFill>
          <a:blip r:embed="rId4">
            <a:extLst>
              <a:ext uri="{28A0092B-C50C-407E-A947-70E740481C1C}">
                <a14:useLocalDpi xmlns:a14="http://schemas.microsoft.com/office/drawing/2010/main" val="0"/>
              </a:ext>
            </a:extLst>
          </a:blip>
          <a:srcRect l="1167" t="21414" r="49467" b="4573"/>
          <a:stretch>
            <a:fillRect/>
          </a:stretch>
        </p:blipFill>
        <p:spPr>
          <a:xfrm>
            <a:off x="744500" y="3277617"/>
            <a:ext cx="2415004" cy="2415004"/>
          </a:xfrm>
          <a:custGeom>
            <a:avLst/>
            <a:gdLst>
              <a:gd name="connsiteX0" fmla="*/ 2351087 w 4702174"/>
              <a:gd name="connsiteY0" fmla="*/ 0 h 4702174"/>
              <a:gd name="connsiteX1" fmla="*/ 4702174 w 4702174"/>
              <a:gd name="connsiteY1" fmla="*/ 2351087 h 4702174"/>
              <a:gd name="connsiteX2" fmla="*/ 2351087 w 4702174"/>
              <a:gd name="connsiteY2" fmla="*/ 4702174 h 4702174"/>
              <a:gd name="connsiteX3" fmla="*/ 0 w 4702174"/>
              <a:gd name="connsiteY3" fmla="*/ 2351087 h 4702174"/>
              <a:gd name="connsiteX4" fmla="*/ 2351087 w 4702174"/>
              <a:gd name="connsiteY4" fmla="*/ 0 h 470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2174" h="4702174">
                <a:moveTo>
                  <a:pt x="2351087" y="0"/>
                </a:moveTo>
                <a:cubicBezTo>
                  <a:pt x="3649556" y="0"/>
                  <a:pt x="4702174" y="1052618"/>
                  <a:pt x="4702174" y="2351087"/>
                </a:cubicBezTo>
                <a:cubicBezTo>
                  <a:pt x="4702174" y="3649556"/>
                  <a:pt x="3649556" y="4702174"/>
                  <a:pt x="2351087" y="4702174"/>
                </a:cubicBezTo>
                <a:cubicBezTo>
                  <a:pt x="1052618" y="4702174"/>
                  <a:pt x="0" y="3649556"/>
                  <a:pt x="0" y="2351087"/>
                </a:cubicBezTo>
                <a:cubicBezTo>
                  <a:pt x="0" y="1052618"/>
                  <a:pt x="1052618" y="0"/>
                  <a:pt x="2351087" y="0"/>
                </a:cubicBezTo>
                <a:close/>
              </a:path>
            </a:pathLst>
          </a:custGeom>
          <a:ln w="50800">
            <a:solidFill>
              <a:schemeClr val="bg1"/>
            </a:solidFill>
          </a:ln>
          <a:effectLst>
            <a:outerShdw blurRad="63500" sx="102000" sy="102000" algn="ctr" rotWithShape="0">
              <a:prstClr val="black">
                <a:alpha val="15000"/>
              </a:prstClr>
            </a:outerShdw>
          </a:effectLst>
        </p:spPr>
      </p:pic>
      <p:sp>
        <p:nvSpPr>
          <p:cNvPr id="14" name="TextBox 13">
            <a:extLst>
              <a:ext uri="{FF2B5EF4-FFF2-40B4-BE49-F238E27FC236}">
                <a16:creationId xmlns:a16="http://schemas.microsoft.com/office/drawing/2014/main" id="{9FA2077F-1B5C-07E3-59FD-65F648076052}"/>
              </a:ext>
            </a:extLst>
          </p:cNvPr>
          <p:cNvSpPr txBox="1"/>
          <p:nvPr/>
        </p:nvSpPr>
        <p:spPr>
          <a:xfrm>
            <a:off x="6709843" y="698218"/>
            <a:ext cx="3433773" cy="830997"/>
          </a:xfrm>
          <a:prstGeom prst="rect">
            <a:avLst/>
          </a:prstGeom>
          <a:noFill/>
        </p:spPr>
        <p:txBody>
          <a:bodyPr wrap="square" rtlCol="0">
            <a:spAutoFit/>
          </a:bodyPr>
          <a:lstStyle/>
          <a:p>
            <a:pPr algn="ctr"/>
            <a:r>
              <a:rPr lang="en-IN" sz="4800" b="1" dirty="0">
                <a:solidFill>
                  <a:schemeClr val="accent6">
                    <a:lumMod val="75000"/>
                  </a:schemeClr>
                </a:solidFill>
                <a:latin typeface="Times New Roman" panose="02020603050405020304" pitchFamily="18" charset="0"/>
                <a:cs typeface="Times New Roman" panose="02020603050405020304" pitchFamily="18" charset="0"/>
              </a:rPr>
              <a:t>References</a:t>
            </a:r>
          </a:p>
        </p:txBody>
      </p:sp>
      <p:pic>
        <p:nvPicPr>
          <p:cNvPr id="15" name="Picture 14" descr="A green laurel wreath with black background&#10;&#10;Description automatically generated with low confidence">
            <a:extLst>
              <a:ext uri="{FF2B5EF4-FFF2-40B4-BE49-F238E27FC236}">
                <a16:creationId xmlns:a16="http://schemas.microsoft.com/office/drawing/2014/main" id="{2790BCE8-45CD-EF50-D11A-B5AB1E8D63AF}"/>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rot="10800000">
            <a:off x="6476298" y="1388276"/>
            <a:ext cx="3900865" cy="3195255"/>
          </a:xfrm>
          <a:prstGeom prst="rect">
            <a:avLst/>
          </a:prstGeom>
        </p:spPr>
      </p:pic>
      <p:pic>
        <p:nvPicPr>
          <p:cNvPr id="16" name="Picture 15" descr="A green laurel wreath with black background&#10;&#10;Description automatically generated with low confidence">
            <a:extLst>
              <a:ext uri="{FF2B5EF4-FFF2-40B4-BE49-F238E27FC236}">
                <a16:creationId xmlns:a16="http://schemas.microsoft.com/office/drawing/2014/main" id="{A5A7E4DF-6C72-91C5-336C-5A7E981AF9BF}"/>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6562648" y="2779608"/>
            <a:ext cx="3900865" cy="3195255"/>
          </a:xfrm>
          <a:prstGeom prst="rect">
            <a:avLst/>
          </a:prstGeom>
        </p:spPr>
      </p:pic>
      <p:sp>
        <p:nvSpPr>
          <p:cNvPr id="19" name="TextBox 18">
            <a:extLst>
              <a:ext uri="{FF2B5EF4-FFF2-40B4-BE49-F238E27FC236}">
                <a16:creationId xmlns:a16="http://schemas.microsoft.com/office/drawing/2014/main" id="{24D17961-263E-C9FA-B84B-91FF675A65C3}"/>
              </a:ext>
            </a:extLst>
          </p:cNvPr>
          <p:cNvSpPr txBox="1"/>
          <p:nvPr/>
        </p:nvSpPr>
        <p:spPr>
          <a:xfrm>
            <a:off x="5715703" y="1905103"/>
            <a:ext cx="5728775" cy="4528804"/>
          </a:xfrm>
          <a:prstGeom prst="rect">
            <a:avLst/>
          </a:prstGeom>
          <a:noFill/>
        </p:spPr>
        <p:txBody>
          <a:bodyPr wrap="square">
            <a:spAutoFit/>
          </a:bodyPr>
          <a:lstStyle/>
          <a:p>
            <a:pPr algn="just">
              <a:spcAft>
                <a:spcPts val="600"/>
              </a:spcAft>
            </a:pPr>
            <a:r>
              <a:rPr lang="en-IN" sz="1600" dirty="0">
                <a:latin typeface="Times New Roman" panose="02020603050405020304" pitchFamily="18" charset="0"/>
                <a:cs typeface="Times New Roman" panose="02020603050405020304" pitchFamily="18" charset="0"/>
              </a:rPr>
              <a:t>[1] A. Kumar et al., "Crop Recommendation System using Random Forest," in </a:t>
            </a:r>
            <a:r>
              <a:rPr lang="en-IN" sz="1600" i="1" dirty="0">
                <a:latin typeface="Times New Roman" panose="02020603050405020304" pitchFamily="18" charset="0"/>
                <a:cs typeface="Times New Roman" panose="02020603050405020304" pitchFamily="18" charset="0"/>
              </a:rPr>
              <a:t>Proc. IEEE Conf. on Precision Agriculture</a:t>
            </a:r>
            <a:r>
              <a:rPr lang="en-IN" sz="1600" dirty="0">
                <a:latin typeface="Times New Roman" panose="02020603050405020304" pitchFamily="18" charset="0"/>
                <a:cs typeface="Times New Roman" panose="02020603050405020304" pitchFamily="18" charset="0"/>
              </a:rPr>
              <a:t>, 2020.</a:t>
            </a:r>
          </a:p>
          <a:p>
            <a:pPr algn="just">
              <a:spcAft>
                <a:spcPts val="600"/>
              </a:spcAft>
            </a:pPr>
            <a:r>
              <a:rPr lang="en-IN" sz="1600" dirty="0">
                <a:latin typeface="Times New Roman" panose="02020603050405020304" pitchFamily="18" charset="0"/>
                <a:cs typeface="Times New Roman" panose="02020603050405020304" pitchFamily="18" charset="0"/>
              </a:rPr>
              <a:t>[2] F. Gupta et al., "Fertilizer Recommendation System using Decision Tree Algorithms," </a:t>
            </a:r>
            <a:r>
              <a:rPr lang="en-IN" sz="1600" i="1" dirty="0">
                <a:latin typeface="Times New Roman" panose="02020603050405020304" pitchFamily="18" charset="0"/>
                <a:cs typeface="Times New Roman" panose="02020603050405020304" pitchFamily="18" charset="0"/>
              </a:rPr>
              <a:t>IEEE Access</a:t>
            </a:r>
            <a:r>
              <a:rPr lang="en-IN" sz="1600" dirty="0">
                <a:latin typeface="Times New Roman" panose="02020603050405020304" pitchFamily="18" charset="0"/>
                <a:cs typeface="Times New Roman" panose="02020603050405020304" pitchFamily="18" charset="0"/>
              </a:rPr>
              <a:t>, vol. 7, pp. 111234–111245, 2019.</a:t>
            </a:r>
          </a:p>
          <a:p>
            <a:pPr algn="just">
              <a:spcAft>
                <a:spcPts val="600"/>
              </a:spcAft>
            </a:pPr>
            <a:r>
              <a:rPr lang="en-IN" sz="1600" dirty="0">
                <a:latin typeface="Times New Roman" panose="02020603050405020304" pitchFamily="18" charset="0"/>
                <a:cs typeface="Times New Roman" panose="02020603050405020304" pitchFamily="18" charset="0"/>
              </a:rPr>
              <a:t>[3] G. Verma et al., "Intelligent Fertilizer Recommendation using Gradient Boosting," in </a:t>
            </a:r>
            <a:r>
              <a:rPr lang="en-IN" sz="1600" i="1" dirty="0">
                <a:latin typeface="Times New Roman" panose="02020603050405020304" pitchFamily="18" charset="0"/>
                <a:cs typeface="Times New Roman" panose="02020603050405020304" pitchFamily="18" charset="0"/>
              </a:rPr>
              <a:t>Proc. IEEE </a:t>
            </a:r>
            <a:r>
              <a:rPr lang="en-IN" sz="1600" i="1" dirty="0" err="1">
                <a:latin typeface="Times New Roman" panose="02020603050405020304" pitchFamily="18" charset="0"/>
                <a:cs typeface="Times New Roman" panose="02020603050405020304" pitchFamily="18" charset="0"/>
              </a:rPr>
              <a:t>AgriTech</a:t>
            </a:r>
            <a:r>
              <a:rPr lang="en-IN" sz="1600" i="1" dirty="0">
                <a:latin typeface="Times New Roman" panose="02020603050405020304" pitchFamily="18" charset="0"/>
                <a:cs typeface="Times New Roman" panose="02020603050405020304" pitchFamily="18" charset="0"/>
              </a:rPr>
              <a:t> Conference</a:t>
            </a:r>
            <a:r>
              <a:rPr lang="en-IN" sz="1600" dirty="0">
                <a:latin typeface="Times New Roman" panose="02020603050405020304" pitchFamily="18" charset="0"/>
                <a:cs typeface="Times New Roman" panose="02020603050405020304" pitchFamily="18" charset="0"/>
              </a:rPr>
              <a:t>, 2020.</a:t>
            </a:r>
          </a:p>
          <a:p>
            <a:pPr algn="just">
              <a:spcAft>
                <a:spcPts val="600"/>
              </a:spcAft>
            </a:pPr>
            <a:r>
              <a:rPr lang="en-IN" sz="1600" dirty="0">
                <a:latin typeface="Times New Roman" panose="02020603050405020304" pitchFamily="18" charset="0"/>
                <a:cs typeface="Times New Roman" panose="02020603050405020304" pitchFamily="18" charset="0"/>
              </a:rPr>
              <a:t>[4] H. Mehta et al., "A Comparative Analysis of Machine Learning Models for Fertilizer Prediction," in </a:t>
            </a:r>
            <a:r>
              <a:rPr lang="en-IN" sz="1600" i="1" dirty="0">
                <a:latin typeface="Times New Roman" panose="02020603050405020304" pitchFamily="18" charset="0"/>
                <a:cs typeface="Times New Roman" panose="02020603050405020304" pitchFamily="18" charset="0"/>
              </a:rPr>
              <a:t>Proc. Smart Farming Tech</a:t>
            </a:r>
            <a:r>
              <a:rPr lang="en-IN" sz="1600" dirty="0">
                <a:latin typeface="Times New Roman" panose="02020603050405020304" pitchFamily="18" charset="0"/>
                <a:cs typeface="Times New Roman" panose="02020603050405020304" pitchFamily="18" charset="0"/>
              </a:rPr>
              <a:t>, 2021.</a:t>
            </a:r>
          </a:p>
          <a:p>
            <a:pPr algn="just">
              <a:spcAft>
                <a:spcPts val="600"/>
              </a:spcAft>
            </a:pPr>
            <a:r>
              <a:rPr lang="en-IN" sz="1600" dirty="0">
                <a:latin typeface="Times New Roman" panose="02020603050405020304" pitchFamily="18" charset="0"/>
                <a:cs typeface="Times New Roman" panose="02020603050405020304" pitchFamily="18" charset="0"/>
              </a:rPr>
              <a:t>[5] K. Das et al., "Crop Yield Prediction using Machine Learning: A Comparative Study," in </a:t>
            </a:r>
            <a:r>
              <a:rPr lang="en-IN" sz="1600" i="1" dirty="0">
                <a:latin typeface="Times New Roman" panose="02020603050405020304" pitchFamily="18" charset="0"/>
                <a:cs typeface="Times New Roman" panose="02020603050405020304" pitchFamily="18" charset="0"/>
              </a:rPr>
              <a:t>Proc. Int. Conf. Agric. Data Science</a:t>
            </a:r>
            <a:r>
              <a:rPr lang="en-IN" sz="1600" dirty="0">
                <a:latin typeface="Times New Roman" panose="02020603050405020304" pitchFamily="18" charset="0"/>
                <a:cs typeface="Times New Roman" panose="02020603050405020304" pitchFamily="18" charset="0"/>
              </a:rPr>
              <a:t>, 2019.</a:t>
            </a:r>
          </a:p>
          <a:p>
            <a:pPr algn="just"/>
            <a:r>
              <a:rPr lang="en-IN" sz="1600" dirty="0">
                <a:latin typeface="Times New Roman" panose="02020603050405020304" pitchFamily="18" charset="0"/>
                <a:cs typeface="Times New Roman" panose="02020603050405020304" pitchFamily="18" charset="0"/>
              </a:rPr>
              <a:t>[6] P. </a:t>
            </a:r>
            <a:r>
              <a:rPr lang="en-IN" sz="1600" dirty="0" err="1">
                <a:latin typeface="Times New Roman" panose="02020603050405020304" pitchFamily="18" charset="0"/>
                <a:cs typeface="Times New Roman" panose="02020603050405020304" pitchFamily="18" charset="0"/>
              </a:rPr>
              <a:t>Ferentinos</a:t>
            </a:r>
            <a:r>
              <a:rPr lang="en-IN" sz="1600" dirty="0">
                <a:latin typeface="Times New Roman" panose="02020603050405020304" pitchFamily="18" charset="0"/>
                <a:cs typeface="Times New Roman" panose="02020603050405020304" pitchFamily="18" charset="0"/>
              </a:rPr>
              <a:t>, "Deep Convolutional Neural Networks for Plant Disease Detection," </a:t>
            </a:r>
            <a:r>
              <a:rPr lang="en-IN" sz="1600" i="1" dirty="0" err="1">
                <a:latin typeface="Times New Roman" panose="02020603050405020304" pitchFamily="18" charset="0"/>
                <a:cs typeface="Times New Roman" panose="02020603050405020304" pitchFamily="18" charset="0"/>
              </a:rPr>
              <a:t>Comput</a:t>
            </a:r>
            <a:r>
              <a:rPr lang="en-IN" sz="1600" i="1" dirty="0">
                <a:latin typeface="Times New Roman" panose="02020603050405020304" pitchFamily="18" charset="0"/>
                <a:cs typeface="Times New Roman" panose="02020603050405020304" pitchFamily="18" charset="0"/>
              </a:rPr>
              <a:t>. Electron. Agric.</a:t>
            </a:r>
            <a:r>
              <a:rPr lang="en-IN" sz="1600" dirty="0">
                <a:latin typeface="Times New Roman" panose="02020603050405020304" pitchFamily="18" charset="0"/>
                <a:cs typeface="Times New Roman" panose="02020603050405020304" pitchFamily="18" charset="0"/>
              </a:rPr>
              <a:t>, vol. 145, pp. 311–318, 2018.</a:t>
            </a:r>
          </a:p>
          <a:p>
            <a:pPr>
              <a:lnSpc>
                <a:spcPts val="2583"/>
              </a:lnSpc>
            </a:pPr>
            <a:endParaRPr lang="en-US" sz="3200" dirty="0"/>
          </a:p>
        </p:txBody>
      </p:sp>
    </p:spTree>
    <p:extLst>
      <p:ext uri="{BB962C8B-B14F-4D97-AF65-F5344CB8AC3E}">
        <p14:creationId xmlns:p14="http://schemas.microsoft.com/office/powerpoint/2010/main" val="1160426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descr="preencoded.png"/>
          <p:cNvPicPr>
            <a:picLocks noChangeAspect="1"/>
          </p:cNvPicPr>
          <p:nvPr/>
        </p:nvPicPr>
        <p:blipFill>
          <a:blip r:embed="rId2"/>
          <a:stretch>
            <a:fillRect/>
          </a:stretch>
        </p:blipFill>
        <p:spPr>
          <a:xfrm>
            <a:off x="15573" y="25762"/>
            <a:ext cx="1569341" cy="1569341"/>
          </a:xfrm>
          <a:prstGeom prst="rect">
            <a:avLst/>
          </a:prstGeom>
        </p:spPr>
      </p:pic>
      <p:pic>
        <p:nvPicPr>
          <p:cNvPr id="60" name="Picture 59" descr="A picture containing plant, leaf, tree&#10;&#10;Description automatically generated">
            <a:extLst>
              <a:ext uri="{FF2B5EF4-FFF2-40B4-BE49-F238E27FC236}">
                <a16:creationId xmlns:a16="http://schemas.microsoft.com/office/drawing/2014/main" id="{171DE5BC-48F9-0ED2-351D-93ACFD9076B1}"/>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artisticPlasticWrap/>
                    </a14:imgEffect>
                  </a14:imgLayer>
                </a14:imgProps>
              </a:ext>
              <a:ext uri="{28A0092B-C50C-407E-A947-70E740481C1C}">
                <a14:useLocalDpi xmlns:a14="http://schemas.microsoft.com/office/drawing/2010/main" val="0"/>
              </a:ext>
            </a:extLst>
          </a:blip>
          <a:stretch>
            <a:fillRect/>
          </a:stretch>
        </p:blipFill>
        <p:spPr>
          <a:xfrm rot="3133390">
            <a:off x="-1677547" y="726364"/>
            <a:ext cx="4751734" cy="5275677"/>
          </a:xfrm>
          <a:prstGeom prst="rect">
            <a:avLst/>
          </a:prstGeom>
        </p:spPr>
      </p:pic>
      <p:sp>
        <p:nvSpPr>
          <p:cNvPr id="6" name="Rectangle 5">
            <a:extLst>
              <a:ext uri="{FF2B5EF4-FFF2-40B4-BE49-F238E27FC236}">
                <a16:creationId xmlns:a16="http://schemas.microsoft.com/office/drawing/2014/main" id="{26D23657-1A1A-9237-2102-C7DA986B24A2}"/>
              </a:ext>
            </a:extLst>
          </p:cNvPr>
          <p:cNvSpPr/>
          <p:nvPr/>
        </p:nvSpPr>
        <p:spPr>
          <a:xfrm>
            <a:off x="9143999" y="0"/>
            <a:ext cx="3048001" cy="5604719"/>
          </a:xfrm>
          <a:prstGeom prst="rect">
            <a:avLst/>
          </a:prstGeom>
          <a:solidFill>
            <a:schemeClr val="accent6">
              <a:lumMod val="50000"/>
            </a:schemeClr>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A509946-FDD7-8182-BC06-ADFAD9EC59AE}"/>
              </a:ext>
            </a:extLst>
          </p:cNvPr>
          <p:cNvSpPr txBox="1"/>
          <p:nvPr/>
        </p:nvSpPr>
        <p:spPr>
          <a:xfrm>
            <a:off x="718668" y="2651917"/>
            <a:ext cx="7404219" cy="1815882"/>
          </a:xfrm>
          <a:prstGeom prst="rect">
            <a:avLst/>
          </a:prstGeom>
          <a:noFill/>
        </p:spPr>
        <p:txBody>
          <a:bodyPr wrap="square">
            <a:spAutoFit/>
          </a:bodyPr>
          <a:lstStyle/>
          <a:p>
            <a:r>
              <a:rPr lang="en-US" sz="2800" b="1" i="0" dirty="0">
                <a:solidFill>
                  <a:schemeClr val="tx1">
                    <a:lumMod val="95000"/>
                    <a:lumOff val="5000"/>
                  </a:schemeClr>
                </a:solidFill>
                <a:effectLst/>
                <a:latin typeface="Times New Roman" panose="02020603050405020304" pitchFamily="18" charset="0"/>
                <a:cs typeface="Times New Roman" panose="02020603050405020304" pitchFamily="18" charset="0"/>
              </a:rPr>
              <a:t>KRISHIDISHA: REVOLUTIONIZING AGRICULTURE WITH INTELLIGENT RECOMMENDATIONS, DISEASE DETECTION, AND YIELD PREDICTION</a:t>
            </a:r>
          </a:p>
        </p:txBody>
      </p:sp>
      <p:sp>
        <p:nvSpPr>
          <p:cNvPr id="11" name="Rectangle 10">
            <a:extLst>
              <a:ext uri="{FF2B5EF4-FFF2-40B4-BE49-F238E27FC236}">
                <a16:creationId xmlns:a16="http://schemas.microsoft.com/office/drawing/2014/main" id="{9FE7E9CE-F83E-0568-DF8A-CE3CEF002347}"/>
              </a:ext>
            </a:extLst>
          </p:cNvPr>
          <p:cNvSpPr/>
          <p:nvPr/>
        </p:nvSpPr>
        <p:spPr>
          <a:xfrm>
            <a:off x="1" y="5604719"/>
            <a:ext cx="6253316" cy="12532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50" name="Google Shape;50;p1"/>
          <p:cNvSpPr/>
          <p:nvPr/>
        </p:nvSpPr>
        <p:spPr>
          <a:xfrm>
            <a:off x="9144000" y="272154"/>
            <a:ext cx="3048000" cy="886909"/>
          </a:xfrm>
          <a:prstGeom prst="rect">
            <a:avLst/>
          </a:prstGeom>
          <a:solidFill>
            <a:schemeClr val="accent6">
              <a:lumMod val="50000"/>
            </a:schemeClr>
          </a:solidFill>
          <a:ln>
            <a:noFill/>
          </a:ln>
        </p:spPr>
        <p:txBody>
          <a:bodyPr spcFirstLastPara="1" wrap="square" lIns="0" tIns="0" rIns="0" bIns="0" anchor="t" anchorCtr="0">
            <a:noAutofit/>
          </a:bodyPr>
          <a:lstStyle/>
          <a:p>
            <a:pPr algn="ctr">
              <a:lnSpc>
                <a:spcPct val="123863"/>
              </a:lnSpc>
              <a:buClr>
                <a:srgbClr val="5CC97B"/>
              </a:buClr>
              <a:buSzPts val="4400"/>
            </a:pPr>
            <a:r>
              <a:rPr lang="en-US" sz="3200" b="1"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Project Work-2</a:t>
            </a:r>
            <a:endParaRPr sz="3200"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endParaRPr>
          </a:p>
        </p:txBody>
      </p:sp>
      <p:sp>
        <p:nvSpPr>
          <p:cNvPr id="51" name="Google Shape;51;p1"/>
          <p:cNvSpPr/>
          <p:nvPr/>
        </p:nvSpPr>
        <p:spPr>
          <a:xfrm>
            <a:off x="9143999" y="848236"/>
            <a:ext cx="3027143" cy="310827"/>
          </a:xfrm>
          <a:prstGeom prst="rect">
            <a:avLst/>
          </a:prstGeom>
          <a:noFill/>
          <a:ln>
            <a:noFill/>
          </a:ln>
        </p:spPr>
        <p:txBody>
          <a:bodyPr spcFirstLastPara="1" wrap="square" lIns="0" tIns="0" rIns="0" bIns="0" anchor="t" anchorCtr="0">
            <a:noAutofit/>
          </a:bodyPr>
          <a:lstStyle/>
          <a:p>
            <a:pPr algn="ctr">
              <a:lnSpc>
                <a:spcPct val="83928"/>
              </a:lnSpc>
              <a:buClr>
                <a:srgbClr val="000000"/>
              </a:buClr>
              <a:buSzPts val="2800"/>
            </a:pPr>
            <a:r>
              <a:rPr lang="en-US"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Course Code: CS3PC02</a:t>
            </a:r>
            <a:endParaRPr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Rectangle 6">
            <a:extLst>
              <a:ext uri="{FF2B5EF4-FFF2-40B4-BE49-F238E27FC236}">
                <a16:creationId xmlns:a16="http://schemas.microsoft.com/office/drawing/2014/main" id="{26D23657-1A1A-9237-2102-C7DA986B24A2}"/>
              </a:ext>
            </a:extLst>
          </p:cNvPr>
          <p:cNvSpPr/>
          <p:nvPr/>
        </p:nvSpPr>
        <p:spPr>
          <a:xfrm>
            <a:off x="6253317" y="5608001"/>
            <a:ext cx="5938683" cy="1237874"/>
          </a:xfrm>
          <a:prstGeom prst="rect">
            <a:avLst/>
          </a:prstGeom>
          <a:solidFill>
            <a:schemeClr val="accent6">
              <a:lumMod val="50000"/>
            </a:schemeClr>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438A8A4-4183-5E8D-6D09-A61BC3447A2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549548" y="1265336"/>
            <a:ext cx="4642452" cy="4351439"/>
          </a:xfrm>
          <a:prstGeom prst="rect">
            <a:avLst/>
          </a:prstGeom>
        </p:spPr>
      </p:pic>
      <p:grpSp>
        <p:nvGrpSpPr>
          <p:cNvPr id="14" name="Group 13">
            <a:extLst>
              <a:ext uri="{FF2B5EF4-FFF2-40B4-BE49-F238E27FC236}">
                <a16:creationId xmlns:a16="http://schemas.microsoft.com/office/drawing/2014/main" id="{EB743662-724F-6B51-159D-1DF2ACCC2E28}"/>
              </a:ext>
            </a:extLst>
          </p:cNvPr>
          <p:cNvGrpSpPr/>
          <p:nvPr/>
        </p:nvGrpSpPr>
        <p:grpSpPr>
          <a:xfrm>
            <a:off x="11471863" y="1383184"/>
            <a:ext cx="624115" cy="624115"/>
            <a:chOff x="11263614" y="1477219"/>
            <a:chExt cx="624115" cy="624115"/>
          </a:xfrm>
        </p:grpSpPr>
        <p:sp>
          <p:nvSpPr>
            <p:cNvPr id="23" name="Oval 22">
              <a:extLst>
                <a:ext uri="{FF2B5EF4-FFF2-40B4-BE49-F238E27FC236}">
                  <a16:creationId xmlns:a16="http://schemas.microsoft.com/office/drawing/2014/main" id="{E16463DD-469F-B1BE-5D90-8E8636642940}"/>
                </a:ext>
              </a:extLst>
            </p:cNvPr>
            <p:cNvSpPr/>
            <p:nvPr/>
          </p:nvSpPr>
          <p:spPr>
            <a:xfrm>
              <a:off x="11263614" y="1477219"/>
              <a:ext cx="624115" cy="624115"/>
            </a:xfrm>
            <a:prstGeom prst="ellipse">
              <a:avLst/>
            </a:prstGeom>
            <a:solidFill>
              <a:schemeClr val="bg1"/>
            </a:solidFill>
            <a:ln>
              <a:solidFill>
                <a:schemeClr val="accent6">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2FF22B27-0DB7-D8AD-5B72-2F8A1EC342C2}"/>
                </a:ext>
              </a:extLst>
            </p:cNvPr>
            <p:cNvGrpSpPr/>
            <p:nvPr/>
          </p:nvGrpSpPr>
          <p:grpSpPr>
            <a:xfrm>
              <a:off x="11456663" y="1689138"/>
              <a:ext cx="238017" cy="200277"/>
              <a:chOff x="11494387" y="1588999"/>
              <a:chExt cx="162568" cy="200277"/>
            </a:xfrm>
          </p:grpSpPr>
          <p:sp>
            <p:nvSpPr>
              <p:cNvPr id="30" name="Rectangle 29">
                <a:extLst>
                  <a:ext uri="{FF2B5EF4-FFF2-40B4-BE49-F238E27FC236}">
                    <a16:creationId xmlns:a16="http://schemas.microsoft.com/office/drawing/2014/main" id="{5AD8007D-3767-718D-C808-E0670F1F551B}"/>
                  </a:ext>
                </a:extLst>
              </p:cNvPr>
              <p:cNvSpPr/>
              <p:nvPr/>
            </p:nvSpPr>
            <p:spPr>
              <a:xfrm>
                <a:off x="11494387" y="1588999"/>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B463D8EB-1063-D6D8-813B-60599EF638F6}"/>
                  </a:ext>
                </a:extLst>
              </p:cNvPr>
              <p:cNvSpPr/>
              <p:nvPr/>
            </p:nvSpPr>
            <p:spPr>
              <a:xfrm>
                <a:off x="11494387" y="1662818"/>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DCE3AD77-AE0B-57DB-2F2A-CA005B1ED517}"/>
                  </a:ext>
                </a:extLst>
              </p:cNvPr>
              <p:cNvSpPr/>
              <p:nvPr/>
            </p:nvSpPr>
            <p:spPr>
              <a:xfrm>
                <a:off x="11494387" y="1743557"/>
                <a:ext cx="162568" cy="45719"/>
              </a:xfrm>
              <a:prstGeom prst="rect">
                <a:avLst/>
              </a:prstGeom>
              <a:solidFill>
                <a:schemeClr val="accent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pic>
        <p:nvPicPr>
          <p:cNvPr id="33" name="Picture 32">
            <a:extLst>
              <a:ext uri="{FF2B5EF4-FFF2-40B4-BE49-F238E27FC236}">
                <a16:creationId xmlns:a16="http://schemas.microsoft.com/office/drawing/2014/main" id="{C222776C-526F-5445-3785-CB126BA000F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94532" y="552848"/>
            <a:ext cx="1771647" cy="1591714"/>
          </a:xfrm>
          <a:prstGeom prst="rect">
            <a:avLst/>
          </a:prstGeom>
        </p:spPr>
      </p:pic>
      <p:sp>
        <p:nvSpPr>
          <p:cNvPr id="34" name="Google Shape;56;p1"/>
          <p:cNvSpPr/>
          <p:nvPr/>
        </p:nvSpPr>
        <p:spPr>
          <a:xfrm>
            <a:off x="151310" y="5679800"/>
            <a:ext cx="1805310" cy="335149"/>
          </a:xfrm>
          <a:prstGeom prst="rect">
            <a:avLst/>
          </a:prstGeom>
          <a:noFill/>
          <a:ln>
            <a:noFill/>
          </a:ln>
        </p:spPr>
        <p:txBody>
          <a:bodyPr spcFirstLastPara="1" wrap="square" lIns="0" tIns="0" rIns="0" bIns="0" anchor="t" anchorCtr="0">
            <a:noAutofit/>
          </a:bodyPr>
          <a:lstStyle/>
          <a:p>
            <a:pPr>
              <a:lnSpc>
                <a:spcPct val="97916"/>
              </a:lnSpc>
              <a:buClr>
                <a:srgbClr val="5CC97B"/>
              </a:buClr>
              <a:buSzPts val="2400"/>
            </a:pPr>
            <a:r>
              <a:rPr lang="en-US" b="1" dirty="0">
                <a:solidFill>
                  <a:srgbClr val="5CC97B"/>
                </a:solidFill>
                <a:latin typeface="Times New Roman" panose="02020603050405020304" pitchFamily="18" charset="0"/>
                <a:ea typeface="Times New Roman"/>
                <a:cs typeface="Times New Roman" panose="02020603050405020304" pitchFamily="18" charset="0"/>
                <a:sym typeface="Times New Roman"/>
              </a:rPr>
              <a:t>Presented by :-</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6" name="TextBox 35">
            <a:extLst>
              <a:ext uri="{FF2B5EF4-FFF2-40B4-BE49-F238E27FC236}">
                <a16:creationId xmlns:a16="http://schemas.microsoft.com/office/drawing/2014/main" id="{500D9C3C-B9AA-40C4-3C7F-956F60B74BC3}"/>
              </a:ext>
            </a:extLst>
          </p:cNvPr>
          <p:cNvSpPr txBox="1"/>
          <p:nvPr/>
        </p:nvSpPr>
        <p:spPr>
          <a:xfrm>
            <a:off x="6253317" y="5645617"/>
            <a:ext cx="1730693" cy="338554"/>
          </a:xfrm>
          <a:prstGeom prst="rect">
            <a:avLst/>
          </a:prstGeom>
          <a:noFill/>
        </p:spPr>
        <p:txBody>
          <a:bodyPr wrap="square">
            <a:spAutoFit/>
          </a:bodyPr>
          <a:lstStyle/>
          <a:p>
            <a:r>
              <a:rPr lang="en-US" sz="1600" b="1" dirty="0">
                <a:solidFill>
                  <a:schemeClr val="accent6">
                    <a:lumMod val="60000"/>
                    <a:lumOff val="40000"/>
                  </a:schemeClr>
                </a:solidFill>
                <a:latin typeface="Times New Roman" panose="02020603050405020304" pitchFamily="18" charset="0"/>
                <a:ea typeface="Times New Roman"/>
                <a:cs typeface="Times New Roman" panose="02020603050405020304" pitchFamily="18" charset="0"/>
                <a:sym typeface="Times New Roman"/>
              </a:rPr>
              <a:t>Guide Name :- </a:t>
            </a:r>
            <a:endParaRPr lang="en-IN" sz="1600" dirty="0">
              <a:solidFill>
                <a:schemeClr val="accent6">
                  <a:lumMod val="60000"/>
                  <a:lumOff val="40000"/>
                </a:schemeClr>
              </a:solidFill>
              <a:latin typeface="Times New Roman" panose="02020603050405020304" pitchFamily="18" charset="0"/>
              <a:cs typeface="Times New Roman" panose="02020603050405020304" pitchFamily="18" charset="0"/>
            </a:endParaRPr>
          </a:p>
        </p:txBody>
      </p:sp>
      <p:grpSp>
        <p:nvGrpSpPr>
          <p:cNvPr id="37" name="Group 36">
            <a:extLst>
              <a:ext uri="{FF2B5EF4-FFF2-40B4-BE49-F238E27FC236}">
                <a16:creationId xmlns:a16="http://schemas.microsoft.com/office/drawing/2014/main" id="{9F3E3435-C31C-B2C2-5815-C23ED2D228FF}"/>
              </a:ext>
            </a:extLst>
          </p:cNvPr>
          <p:cNvGrpSpPr/>
          <p:nvPr/>
        </p:nvGrpSpPr>
        <p:grpSpPr>
          <a:xfrm>
            <a:off x="7709340" y="5353680"/>
            <a:ext cx="605082" cy="166266"/>
            <a:chOff x="7819360" y="5848684"/>
            <a:chExt cx="605082" cy="166266"/>
          </a:xfrm>
        </p:grpSpPr>
        <p:sp>
          <p:nvSpPr>
            <p:cNvPr id="38" name="Oval 37">
              <a:extLst>
                <a:ext uri="{FF2B5EF4-FFF2-40B4-BE49-F238E27FC236}">
                  <a16:creationId xmlns:a16="http://schemas.microsoft.com/office/drawing/2014/main" id="{61844968-5D6F-8598-D790-7EAB6139C0C4}"/>
                </a:ext>
              </a:extLst>
            </p:cNvPr>
            <p:cNvSpPr/>
            <p:nvPr/>
          </p:nvSpPr>
          <p:spPr>
            <a:xfrm>
              <a:off x="7819360"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B92DA78B-C285-7381-C1AB-B5FB85D64001}"/>
                </a:ext>
              </a:extLst>
            </p:cNvPr>
            <p:cNvSpPr/>
            <p:nvPr/>
          </p:nvSpPr>
          <p:spPr>
            <a:xfrm>
              <a:off x="8038768"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40" name="Oval 39">
              <a:extLst>
                <a:ext uri="{FF2B5EF4-FFF2-40B4-BE49-F238E27FC236}">
                  <a16:creationId xmlns:a16="http://schemas.microsoft.com/office/drawing/2014/main" id="{1AB44E59-031B-C23E-934D-761BEFDCE54A}"/>
                </a:ext>
              </a:extLst>
            </p:cNvPr>
            <p:cNvSpPr/>
            <p:nvPr/>
          </p:nvSpPr>
          <p:spPr>
            <a:xfrm>
              <a:off x="8258176" y="5848684"/>
              <a:ext cx="166266" cy="166266"/>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sp>
        <p:nvSpPr>
          <p:cNvPr id="42" name="TextBox 41">
            <a:extLst>
              <a:ext uri="{FF2B5EF4-FFF2-40B4-BE49-F238E27FC236}">
                <a16:creationId xmlns:a16="http://schemas.microsoft.com/office/drawing/2014/main" id="{41F79CDB-3B43-103B-0688-A0398AB2C397}"/>
              </a:ext>
            </a:extLst>
          </p:cNvPr>
          <p:cNvSpPr txBox="1"/>
          <p:nvPr/>
        </p:nvSpPr>
        <p:spPr>
          <a:xfrm>
            <a:off x="1828801" y="5679800"/>
            <a:ext cx="4011560" cy="338554"/>
          </a:xfrm>
          <a:prstGeom prst="rect">
            <a:avLst/>
          </a:prstGeom>
          <a:noFill/>
        </p:spPr>
        <p:txBody>
          <a:bodyPr wrap="square">
            <a:spAutoFit/>
          </a:bodyPr>
          <a:lstStyle/>
          <a:p>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Abhishek Chourasia (EN23CS3T1013</a:t>
            </a:r>
            <a:r>
              <a:rPr lang="en-US" sz="1600" dirty="0">
                <a:solidFill>
                  <a:schemeClr val="accent3">
                    <a:lumMod val="50000"/>
                  </a:schemeClr>
                </a:solidFill>
                <a:latin typeface="Times New Roman" panose="02020603050405020304" pitchFamily="18" charset="0"/>
                <a:ea typeface="Times New Roman"/>
                <a:cs typeface="Times New Roman" panose="02020603050405020304" pitchFamily="18" charset="0"/>
              </a:rPr>
              <a:t>)</a:t>
            </a:r>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 </a:t>
            </a:r>
            <a:endParaRPr lang="en-IN" sz="1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64E47D0-30DB-67E9-D904-CA9376C06B69}"/>
              </a:ext>
            </a:extLst>
          </p:cNvPr>
          <p:cNvSpPr txBox="1"/>
          <p:nvPr/>
        </p:nvSpPr>
        <p:spPr>
          <a:xfrm>
            <a:off x="1828801" y="6001553"/>
            <a:ext cx="3718002" cy="338554"/>
          </a:xfrm>
          <a:prstGeom prst="rect">
            <a:avLst/>
          </a:prstGeom>
          <a:noFill/>
        </p:spPr>
        <p:txBody>
          <a:bodyPr wrap="square">
            <a:spAutoFit/>
          </a:bodyPr>
          <a:lstStyle/>
          <a:p>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Goutam Mandloi (EN23CS3T1016)</a:t>
            </a:r>
            <a:endParaRPr lang="en-IN" sz="1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BD3E8A7-9343-CDE1-43A3-DF4D59984685}"/>
              </a:ext>
            </a:extLst>
          </p:cNvPr>
          <p:cNvSpPr txBox="1"/>
          <p:nvPr/>
        </p:nvSpPr>
        <p:spPr>
          <a:xfrm>
            <a:off x="1828801" y="6323305"/>
            <a:ext cx="4607606" cy="332527"/>
          </a:xfrm>
          <a:prstGeom prst="rect">
            <a:avLst/>
          </a:prstGeom>
          <a:noFill/>
        </p:spPr>
        <p:txBody>
          <a:bodyPr wrap="square">
            <a:spAutoFit/>
          </a:bodyPr>
          <a:lstStyle/>
          <a:p>
            <a:pPr>
              <a:lnSpc>
                <a:spcPct val="104166"/>
              </a:lnSpc>
              <a:spcBef>
                <a:spcPts val="500"/>
              </a:spcBef>
              <a:buClr>
                <a:srgbClr val="272525"/>
              </a:buClr>
              <a:buSzPts val="2400"/>
            </a:pPr>
            <a:r>
              <a:rPr lang="en-US" sz="1600" b="1" dirty="0" err="1">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Shivpratap</a:t>
            </a:r>
            <a:r>
              <a:rPr lang="en-US" sz="1600" b="1" dirty="0">
                <a:solidFill>
                  <a:schemeClr val="accent3">
                    <a:lumMod val="50000"/>
                  </a:schemeClr>
                </a:solidFill>
                <a:latin typeface="Times New Roman" panose="02020603050405020304" pitchFamily="18" charset="0"/>
                <a:ea typeface="Times New Roman"/>
                <a:cs typeface="Times New Roman" panose="02020603050405020304" pitchFamily="18" charset="0"/>
                <a:sym typeface="Times New Roman"/>
              </a:rPr>
              <a:t> Singh Panwar (EN23CS3T1017)</a:t>
            </a:r>
            <a:endParaRPr lang="en-US" sz="12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43DB0C93-969F-0123-F251-C8C8437D096F}"/>
              </a:ext>
            </a:extLst>
          </p:cNvPr>
          <p:cNvSpPr txBox="1"/>
          <p:nvPr/>
        </p:nvSpPr>
        <p:spPr>
          <a:xfrm>
            <a:off x="7875606" y="5681462"/>
            <a:ext cx="3924513" cy="332527"/>
          </a:xfrm>
          <a:prstGeom prst="rect">
            <a:avLst/>
          </a:prstGeom>
          <a:noFill/>
        </p:spPr>
        <p:txBody>
          <a:bodyPr wrap="square">
            <a:spAutoFit/>
          </a:bodyPr>
          <a:lstStyle/>
          <a:p>
            <a:pPr>
              <a:lnSpc>
                <a:spcPct val="104166"/>
              </a:lnSpc>
            </a:pPr>
            <a:r>
              <a:rPr lang="nn-NO"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Prof Priyanka Dhasal &amp; Radha Yadav</a:t>
            </a:r>
            <a:endParaRPr lang="nn-NO" sz="1200"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84442D09-30B2-3EB4-8C09-98DB211F2807}"/>
              </a:ext>
            </a:extLst>
          </p:cNvPr>
          <p:cNvSpPr txBox="1"/>
          <p:nvPr/>
        </p:nvSpPr>
        <p:spPr>
          <a:xfrm>
            <a:off x="8831826" y="6049132"/>
            <a:ext cx="1922206" cy="332527"/>
          </a:xfrm>
          <a:prstGeom prst="rect">
            <a:avLst/>
          </a:prstGeom>
          <a:noFill/>
        </p:spPr>
        <p:txBody>
          <a:bodyPr wrap="square">
            <a:spAutoFit/>
          </a:bodyPr>
          <a:lstStyle/>
          <a:p>
            <a:pPr>
              <a:lnSpc>
                <a:spcPct val="104166"/>
              </a:lnSpc>
              <a:spcBef>
                <a:spcPts val="500"/>
              </a:spcBef>
            </a:pPr>
            <a:r>
              <a:rPr lang="en-US"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CSE Department</a:t>
            </a:r>
            <a:endParaRPr lang="en-US" sz="1200"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53" name="Google Shape;54;p1"/>
          <p:cNvSpPr/>
          <p:nvPr/>
        </p:nvSpPr>
        <p:spPr>
          <a:xfrm>
            <a:off x="4084872" y="1047229"/>
            <a:ext cx="2687439" cy="335955"/>
          </a:xfrm>
          <a:prstGeom prst="rect">
            <a:avLst/>
          </a:prstGeom>
          <a:noFill/>
          <a:ln>
            <a:noFill/>
          </a:ln>
        </p:spPr>
        <p:txBody>
          <a:bodyPr spcFirstLastPara="1" wrap="square" lIns="0" tIns="0" rIns="0" bIns="0" anchor="t" anchorCtr="0">
            <a:noAutofit/>
          </a:bodyPr>
          <a:lstStyle/>
          <a:p>
            <a:pPr algn="ctr">
              <a:lnSpc>
                <a:spcPct val="112500"/>
              </a:lnSpc>
              <a:buClr>
                <a:srgbClr val="000000"/>
              </a:buClr>
              <a:buSzPts val="2800"/>
            </a:pPr>
            <a:r>
              <a:rPr lang="en-US" sz="2333" b="1" dirty="0" err="1">
                <a:solidFill>
                  <a:srgbClr val="000000"/>
                </a:solidFill>
                <a:latin typeface="Times New Roman" panose="02020603050405020304" pitchFamily="18" charset="0"/>
                <a:ea typeface="Times New Roman"/>
                <a:cs typeface="Times New Roman" panose="02020603050405020304" pitchFamily="18" charset="0"/>
                <a:sym typeface="Times New Roman"/>
              </a:rPr>
              <a:t>B.Tech</a:t>
            </a:r>
            <a:r>
              <a:rPr lang="en-US" sz="2333" b="1" dirty="0">
                <a:solidFill>
                  <a:srgbClr val="000000"/>
                </a:solidFill>
                <a:latin typeface="Times New Roman" panose="02020603050405020304" pitchFamily="18" charset="0"/>
                <a:ea typeface="Times New Roman"/>
                <a:cs typeface="Times New Roman" panose="02020603050405020304" pitchFamily="18" charset="0"/>
                <a:sym typeface="Times New Roman"/>
              </a:rPr>
              <a:t> - CSE</a:t>
            </a:r>
            <a:endParaRPr sz="2333"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57" name="Google Shape;55;p1"/>
          <p:cNvSpPr/>
          <p:nvPr/>
        </p:nvSpPr>
        <p:spPr>
          <a:xfrm>
            <a:off x="4420778" y="1424790"/>
            <a:ext cx="2015629" cy="252016"/>
          </a:xfrm>
          <a:prstGeom prst="rect">
            <a:avLst/>
          </a:prstGeom>
          <a:noFill/>
          <a:ln>
            <a:noFill/>
          </a:ln>
        </p:spPr>
        <p:txBody>
          <a:bodyPr spcFirstLastPara="1" wrap="square" lIns="0" tIns="0" rIns="0" bIns="0" anchor="t" anchorCtr="0">
            <a:noAutofit/>
          </a:bodyPr>
          <a:lstStyle/>
          <a:p>
            <a:pPr algn="ctr">
              <a:lnSpc>
                <a:spcPct val="97916"/>
              </a:lnSpc>
              <a:buClr>
                <a:srgbClr val="000000"/>
              </a:buClr>
              <a:buSzPts val="2400"/>
            </a:pPr>
            <a:r>
              <a:rPr lang="en-US" sz="1600" b="1"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rPr>
              <a:t>Eight Semester</a:t>
            </a:r>
            <a:endParaRPr sz="1600" dirty="0">
              <a:solidFill>
                <a:schemeClr val="bg2">
                  <a:lumMod val="75000"/>
                </a:schemeClr>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064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2250" fill="hold"/>
                                        <p:tgtEl>
                                          <p:spTgt spid="60"/>
                                        </p:tgtEl>
                                        <p:attrNameLst>
                                          <p:attrName>ppt_x</p:attrName>
                                        </p:attrNameLst>
                                      </p:cBhvr>
                                      <p:tavLst>
                                        <p:tav tm="0">
                                          <p:val>
                                            <p:strVal val="#ppt_x"/>
                                          </p:val>
                                        </p:tav>
                                        <p:tav tm="100000">
                                          <p:val>
                                            <p:strVal val="#ppt_x"/>
                                          </p:val>
                                        </p:tav>
                                      </p:tavLst>
                                    </p:anim>
                                    <p:anim calcmode="lin" valueType="num">
                                      <p:cBhvr additive="base">
                                        <p:cTn id="8" dur="225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kgqdmg7odtnonpdjk8wyc2cjhk1q8h"/>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 dockstate="right" visibility="0" width="438" row="3">
    <wetp:webextensionref xmlns:r="http://schemas.openxmlformats.org/officeDocument/2006/relationships" r:id="rId3"/>
  </wetp:taskpane>
  <wetp:taskpane dockstate="right" visibility="0" width="438" row="4">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81FEAB72-957B-4F26-9AD6-9691E79CF977}">
  <we:reference id="wa104380518" version="3.7.0.0" store="en-US" storeType="OMEX"/>
  <we:alternateReferences>
    <we:reference id="WA104380518" version="3.7.0.0" store="WA104380518"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4DA88BD-1FF9-4989-9923-A4378776EF86}">
  <we:reference id="wa200005107" version="1.1.0.0" store="en-US" storeType="OMEX"/>
  <we:alternateReferences>
    <we:reference id="WA200005107" version="1.1.0.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511D6F5D-47A1-417C-89F7-CAB94B3AA102}">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E8660FD9-A72F-46F7-B9C6-83F90FD59E6D}">
  <we:reference id="wa104379279" version="2.1.0.0" store="en-US" storeType="OMEX"/>
  <we:alternateReferences>
    <we:reference id="WA104379279" version="2.1.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806</TotalTime>
  <Words>1536</Words>
  <Application>Microsoft Office PowerPoint</Application>
  <PresentationFormat>Widescreen</PresentationFormat>
  <Paragraphs>113</Paragraphs>
  <Slides>18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Montserrat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Goutam Mandloi</dc:creator>
  <cp:lastModifiedBy>Goutam Mandloi</cp:lastModifiedBy>
  <cp:revision>7</cp:revision>
  <dcterms:created xsi:type="dcterms:W3CDTF">2025-02-15T03:09:30Z</dcterms:created>
  <dcterms:modified xsi:type="dcterms:W3CDTF">2025-02-19T09:58:16Z</dcterms:modified>
</cp:coreProperties>
</file>